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8" r:id="rId6"/>
    <p:sldId id="269" r:id="rId7"/>
    <p:sldId id="260" r:id="rId8"/>
    <p:sldId id="270" r:id="rId9"/>
    <p:sldId id="271" r:id="rId10"/>
    <p:sldId id="272" r:id="rId11"/>
    <p:sldId id="273" r:id="rId12"/>
    <p:sldId id="261" r:id="rId13"/>
    <p:sldId id="274" r:id="rId14"/>
    <p:sldId id="275" r:id="rId15"/>
    <p:sldId id="276" r:id="rId16"/>
    <p:sldId id="277" r:id="rId17"/>
    <p:sldId id="280" r:id="rId18"/>
    <p:sldId id="281" r:id="rId19"/>
    <p:sldId id="282" r:id="rId20"/>
    <p:sldId id="286" r:id="rId21"/>
    <p:sldId id="283" r:id="rId22"/>
    <p:sldId id="284" r:id="rId23"/>
    <p:sldId id="262" r:id="rId24"/>
    <p:sldId id="278" r:id="rId25"/>
    <p:sldId id="279" r:id="rId26"/>
  </p:sldIdLst>
  <p:sldSz cx="9144000" cy="5143500" type="screen16x9"/>
  <p:notesSz cx="6858000" cy="9144000"/>
  <p:embeddedFontLst>
    <p:embeddedFont>
      <p:font typeface="Nunito" panose="020B0604020202020204" charset="0"/>
      <p:regular r:id="rId28"/>
      <p:bold r:id="rId29"/>
      <p:italic r:id="rId30"/>
      <p:boldItalic r:id="rId31"/>
    </p:embeddedFont>
    <p:embeddedFont>
      <p:font typeface="Maven Pro" panose="020B0604020202020204" charset="0"/>
      <p:regular r:id="rId32"/>
      <p:bold r:id="rId33"/>
    </p:embeddedFont>
    <p:embeddedFont>
      <p:font typeface="Century Gothic Paneuropean Bold" panose="020B0604020202020204"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94E7"/>
    <a:srgbClr val="6FA8DC"/>
    <a:srgbClr val="4A86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593147-F81C-4BDB-B452-E945C2A3D6CE}">
  <a:tblStyle styleId="{ED593147-F81C-4BDB-B452-E945C2A3D6C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4" d="100"/>
          <a:sy n="84" d="100"/>
        </p:scale>
        <p:origin x="780"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c6f980f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c6f980f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c6f980f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c6f980f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c6f980f91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c6f980f9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c6f980f9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c6f980f9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6426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11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2199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265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5101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743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42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322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3194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9161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8881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4835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649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198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6f980f91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c6f980f9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86E8"/>
        </a:solidFill>
        <a:effectLst/>
      </p:bgPr>
    </p:bg>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651600" y="678650"/>
            <a:ext cx="7840800" cy="161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GlowCosmetic Online Product  </a:t>
            </a:r>
            <a:endParaRPr/>
          </a:p>
        </p:txBody>
      </p:sp>
      <p:sp>
        <p:nvSpPr>
          <p:cNvPr id="278" name="Google Shape;278;p13"/>
          <p:cNvSpPr txBox="1">
            <a:spLocks noGrp="1"/>
          </p:cNvSpPr>
          <p:nvPr>
            <p:ph type="subTitle" idx="1"/>
          </p:nvPr>
        </p:nvSpPr>
        <p:spPr>
          <a:xfrm>
            <a:off x="391075" y="2599200"/>
            <a:ext cx="2022000" cy="154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t>Developed by : </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 sz="2000"/>
              <a:t>Angel Raiyani</a:t>
            </a:r>
            <a:endParaRPr sz="2000"/>
          </a:p>
        </p:txBody>
      </p:sp>
      <p:sp>
        <p:nvSpPr>
          <p:cNvPr id="279" name="Google Shape;279;p13"/>
          <p:cNvSpPr txBox="1"/>
          <p:nvPr/>
        </p:nvSpPr>
        <p:spPr>
          <a:xfrm>
            <a:off x="2846025" y="2599200"/>
            <a:ext cx="3411600" cy="14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FFFFFF"/>
                </a:solidFill>
                <a:latin typeface="Nunito"/>
                <a:ea typeface="Nunito"/>
                <a:cs typeface="Nunito"/>
                <a:sym typeface="Nunito"/>
              </a:rPr>
              <a:t>Developed At : </a:t>
            </a:r>
            <a:endParaRPr sz="2000">
              <a:solidFill>
                <a:srgbClr val="FFFFFF"/>
              </a:solidFill>
              <a:latin typeface="Nunito"/>
              <a:ea typeface="Nunito"/>
              <a:cs typeface="Nunito"/>
              <a:sym typeface="Nunito"/>
            </a:endParaRPr>
          </a:p>
          <a:p>
            <a:pPr marL="0" lvl="0" indent="0" algn="l" rtl="0">
              <a:spcBef>
                <a:spcPts val="0"/>
              </a:spcBef>
              <a:spcAft>
                <a:spcPts val="0"/>
              </a:spcAft>
              <a:buNone/>
            </a:pPr>
            <a:endParaRPr sz="2000">
              <a:solidFill>
                <a:srgbClr val="FFFFFF"/>
              </a:solidFill>
              <a:latin typeface="Nunito"/>
              <a:ea typeface="Nunito"/>
              <a:cs typeface="Nunito"/>
              <a:sym typeface="Nunito"/>
            </a:endParaRPr>
          </a:p>
          <a:p>
            <a:pPr marL="0" lvl="0" indent="0" algn="l" rtl="0">
              <a:spcBef>
                <a:spcPts val="0"/>
              </a:spcBef>
              <a:spcAft>
                <a:spcPts val="0"/>
              </a:spcAft>
              <a:buNone/>
            </a:pPr>
            <a:r>
              <a:rPr lang="en" sz="2000">
                <a:solidFill>
                  <a:srgbClr val="FFFFFF"/>
                </a:solidFill>
                <a:latin typeface="Nunito"/>
                <a:ea typeface="Nunito"/>
                <a:cs typeface="Nunito"/>
                <a:sym typeface="Nunito"/>
              </a:rPr>
              <a:t>Decent Infoways Pvt. Ltd.</a:t>
            </a:r>
            <a:endParaRPr sz="2000">
              <a:solidFill>
                <a:srgbClr val="FFFFFF"/>
              </a:solidFill>
              <a:latin typeface="Nunito"/>
              <a:ea typeface="Nunito"/>
              <a:cs typeface="Nunito"/>
              <a:sym typeface="Nunito"/>
            </a:endParaRPr>
          </a:p>
        </p:txBody>
      </p:sp>
      <p:sp>
        <p:nvSpPr>
          <p:cNvPr id="280" name="Google Shape;280;p13"/>
          <p:cNvSpPr txBox="1"/>
          <p:nvPr/>
        </p:nvSpPr>
        <p:spPr>
          <a:xfrm>
            <a:off x="6257625" y="2599200"/>
            <a:ext cx="2216700" cy="10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FFFFFF"/>
                </a:solidFill>
                <a:latin typeface="Nunito"/>
                <a:ea typeface="Nunito"/>
                <a:cs typeface="Nunito"/>
                <a:sym typeface="Nunito"/>
              </a:rPr>
              <a:t>Guide : </a:t>
            </a:r>
            <a:endParaRPr sz="2000">
              <a:solidFill>
                <a:srgbClr val="FFFFFF"/>
              </a:solidFill>
              <a:latin typeface="Nunito"/>
              <a:ea typeface="Nunito"/>
              <a:cs typeface="Nunito"/>
              <a:sym typeface="Nunito"/>
            </a:endParaRPr>
          </a:p>
          <a:p>
            <a:pPr marL="0" lvl="0" indent="0" algn="l" rtl="0">
              <a:spcBef>
                <a:spcPts val="0"/>
              </a:spcBef>
              <a:spcAft>
                <a:spcPts val="0"/>
              </a:spcAft>
              <a:buNone/>
            </a:pPr>
            <a:endParaRPr sz="2000">
              <a:solidFill>
                <a:srgbClr val="FFFFFF"/>
              </a:solidFill>
              <a:latin typeface="Nunito"/>
              <a:ea typeface="Nunito"/>
              <a:cs typeface="Nunito"/>
              <a:sym typeface="Nunito"/>
            </a:endParaRPr>
          </a:p>
          <a:p>
            <a:pPr marL="0" lvl="0" indent="0" algn="l" rtl="0">
              <a:spcBef>
                <a:spcPts val="0"/>
              </a:spcBef>
              <a:spcAft>
                <a:spcPts val="0"/>
              </a:spcAft>
              <a:buNone/>
            </a:pPr>
            <a:r>
              <a:rPr lang="en" sz="2000">
                <a:solidFill>
                  <a:srgbClr val="FFFFFF"/>
                </a:solidFill>
                <a:latin typeface="Nunito"/>
                <a:ea typeface="Nunito"/>
                <a:cs typeface="Nunito"/>
                <a:sym typeface="Nunito"/>
              </a:rPr>
              <a:t>Prof. Dhaval Lal </a:t>
            </a:r>
            <a:endParaRPr sz="2000">
              <a:solidFill>
                <a:srgbClr val="FFFFFF"/>
              </a:solidFill>
              <a:latin typeface="Nunito"/>
              <a:ea typeface="Nunito"/>
              <a:cs typeface="Nunito"/>
              <a:sym typeface="Nunito"/>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100"/>
              <a:t>About Company </a:t>
            </a:r>
            <a:endParaRPr sz="3100"/>
          </a:p>
        </p:txBody>
      </p:sp>
      <p:sp>
        <p:nvSpPr>
          <p:cNvPr id="286" name="Google Shape;286;p1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800" i="1" dirty="0">
                <a:solidFill>
                  <a:srgbClr val="000000"/>
                </a:solidFill>
              </a:rPr>
              <a:t>Decent Infoway, founded in 2013, is an IT services company based in Rajkot, Gujarat, India. We specialize in custom software development, web and mobile applications, digital solutions and consultancy. Our expertise spans modern technologies including the MERN stack, Flutter, ASP.NET, and cloud platforms. Committed to quality, innovation and customer satisfaction, Decent Infoway empowers businesses to succeed in the digital era through reliable, scalable, and cost-effective technology solutions.</a:t>
            </a:r>
            <a:endParaRPr sz="1800" i="1" dirty="0">
              <a:solidFill>
                <a:srgbClr val="000000"/>
              </a:solidFill>
            </a:endParaRPr>
          </a:p>
        </p:txBody>
      </p:sp>
      <p:pic>
        <p:nvPicPr>
          <p:cNvPr id="287" name="Google Shape;287;p14"/>
          <p:cNvPicPr preferRelativeResize="0"/>
          <p:nvPr/>
        </p:nvPicPr>
        <p:blipFill>
          <a:blip r:embed="rId3">
            <a:alphaModFix/>
          </a:blip>
          <a:stretch>
            <a:fillRect/>
          </a:stretch>
        </p:blipFill>
        <p:spPr>
          <a:xfrm>
            <a:off x="5461738" y="164525"/>
            <a:ext cx="3000375" cy="1524000"/>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291"/>
        <p:cNvGrpSpPr/>
        <p:nvPr/>
      </p:nvGrpSpPr>
      <p:grpSpPr>
        <a:xfrm>
          <a:off x="0" y="0"/>
          <a:ext cx="0" cy="0"/>
          <a:chOff x="0" y="0"/>
          <a:chExt cx="0" cy="0"/>
        </a:xfrm>
      </p:grpSpPr>
      <p:sp>
        <p:nvSpPr>
          <p:cNvPr id="292" name="Google Shape;292;p15"/>
          <p:cNvSpPr txBox="1"/>
          <p:nvPr/>
        </p:nvSpPr>
        <p:spPr>
          <a:xfrm>
            <a:off x="404100" y="323250"/>
            <a:ext cx="6788700" cy="10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dirty="0">
                <a:solidFill>
                  <a:schemeClr val="lt1"/>
                </a:solidFill>
                <a:latin typeface="Nunito"/>
                <a:ea typeface="Nunito"/>
                <a:cs typeface="Nunito"/>
                <a:sym typeface="Nunito"/>
              </a:rPr>
              <a:t>Objective Of Product </a:t>
            </a:r>
            <a:endParaRPr sz="4800" dirty="0">
              <a:solidFill>
                <a:schemeClr val="lt1"/>
              </a:solidFill>
              <a:latin typeface="Nunito"/>
              <a:ea typeface="Nunito"/>
              <a:cs typeface="Nunito"/>
              <a:sym typeface="Nunito"/>
            </a:endParaRPr>
          </a:p>
        </p:txBody>
      </p:sp>
      <p:sp>
        <p:nvSpPr>
          <p:cNvPr id="293" name="Google Shape;293;p15"/>
          <p:cNvSpPr txBox="1"/>
          <p:nvPr/>
        </p:nvSpPr>
        <p:spPr>
          <a:xfrm>
            <a:off x="404100" y="1323650"/>
            <a:ext cx="8277900" cy="3361200"/>
          </a:xfrm>
          <a:prstGeom prst="rect">
            <a:avLst/>
          </a:prstGeom>
          <a:noFill/>
          <a:ln>
            <a:noFill/>
          </a:ln>
        </p:spPr>
        <p:txBody>
          <a:bodyPr spcFirstLastPara="1" wrap="square" lIns="91425" tIns="91425" rIns="91425" bIns="91425" anchor="t" anchorCtr="0">
            <a:noAutofit/>
          </a:bodyPr>
          <a:lstStyle/>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Build a fast, responsive e-commerce site for cosmetics with smooth product browsing and checkout.</a:t>
            </a:r>
            <a:br>
              <a:rPr lang="en" sz="1600" dirty="0">
                <a:solidFill>
                  <a:schemeClr val="lt1"/>
                </a:solidFill>
                <a:latin typeface="Nunito"/>
                <a:ea typeface="Nunito"/>
                <a:cs typeface="Nunito"/>
                <a:sym typeface="Nunito"/>
              </a:rPr>
            </a:b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Support category-based browsing, filters, product variants (size, shade), and search with pagination.</a:t>
            </a:r>
            <a:endParaRPr sz="1600" dirty="0">
              <a:solidFill>
                <a:schemeClr val="lt1"/>
              </a:solidFill>
              <a:latin typeface="Nunito"/>
              <a:ea typeface="Nunito"/>
              <a:cs typeface="Nunito"/>
              <a:sym typeface="Nunito"/>
            </a:endParaRPr>
          </a:p>
          <a:p>
            <a:pPr marL="457200" lvl="0" indent="0" rtl="0">
              <a:spcBef>
                <a:spcPts val="0"/>
              </a:spcBef>
              <a:spcAft>
                <a:spcPts val="0"/>
              </a:spcAft>
              <a:buNone/>
            </a:pP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Provide secure login, JWT authentication, and role-based access for Admin, Customer, and Staff.</a:t>
            </a:r>
            <a:br>
              <a:rPr lang="en" sz="1600" dirty="0">
                <a:solidFill>
                  <a:schemeClr val="lt1"/>
                </a:solidFill>
                <a:latin typeface="Nunito"/>
                <a:ea typeface="Nunito"/>
                <a:cs typeface="Nunito"/>
                <a:sym typeface="Nunito"/>
              </a:rPr>
            </a:b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Admin dashboard to manage products, categories, offers, users, orders, and site content (About, Contact).</a:t>
            </a:r>
            <a:endParaRPr sz="1600" dirty="0">
              <a:solidFill>
                <a:schemeClr val="lt1"/>
              </a:solidFill>
              <a:latin typeface="Nunito"/>
              <a:ea typeface="Nunito"/>
              <a:cs typeface="Nunito"/>
              <a:sym typeface="Nunito"/>
            </a:endParaRPr>
          </a:p>
          <a:p>
            <a:pPr marL="457200" lvl="0" indent="0" rtl="0">
              <a:spcBef>
                <a:spcPts val="0"/>
              </a:spcBef>
              <a:spcAft>
                <a:spcPts val="0"/>
              </a:spcAft>
              <a:buNone/>
            </a:pP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Product ratings &amp; reviews, and basic SEO-friendly pages for better discoverability.</a:t>
            </a:r>
            <a:br>
              <a:rPr lang="en" sz="1600" dirty="0">
                <a:solidFill>
                  <a:schemeClr val="lt1"/>
                </a:solidFill>
                <a:latin typeface="Nunito"/>
                <a:ea typeface="Nunito"/>
                <a:cs typeface="Nunito"/>
                <a:sym typeface="Nunito"/>
              </a:rPr>
            </a:br>
            <a:endParaRPr sz="1600" dirty="0">
              <a:solidFill>
                <a:schemeClr val="lt1"/>
              </a:solidFill>
              <a:latin typeface="Nunito"/>
              <a:ea typeface="Nunito"/>
              <a:cs typeface="Nunito"/>
              <a:sym typeface="Nunito"/>
            </a:endParaRPr>
          </a:p>
          <a:p>
            <a:pPr marL="0" lvl="0" indent="0" rtl="0">
              <a:spcBef>
                <a:spcPts val="0"/>
              </a:spcBef>
              <a:spcAft>
                <a:spcPts val="0"/>
              </a:spcAft>
              <a:buNone/>
            </a:pPr>
            <a:endParaRPr sz="1300" dirty="0">
              <a:solidFill>
                <a:schemeClr val="dk2"/>
              </a:solidFill>
              <a:latin typeface="Nunito"/>
              <a:ea typeface="Nunito"/>
              <a:cs typeface="Nunito"/>
              <a:sym typeface="Nunito"/>
            </a:endParaRPr>
          </a:p>
          <a:p>
            <a:pPr marL="0" lvl="0" indent="0" rtl="0">
              <a:spcBef>
                <a:spcPts val="0"/>
              </a:spcBef>
              <a:spcAft>
                <a:spcPts val="0"/>
              </a:spcAft>
              <a:buNone/>
            </a:pPr>
            <a:endParaRPr sz="1300" dirty="0">
              <a:solidFill>
                <a:schemeClr val="dk2"/>
              </a:solidFill>
              <a:latin typeface="Nunito"/>
              <a:ea typeface="Nunito"/>
              <a:cs typeface="Nunito"/>
              <a:sym typeface="Nunito"/>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6"/>
          <p:cNvSpPr txBox="1">
            <a:spLocks noGrp="1"/>
          </p:cNvSpPr>
          <p:nvPr>
            <p:ph type="title"/>
          </p:nvPr>
        </p:nvSpPr>
        <p:spPr>
          <a:xfrm>
            <a:off x="1303800" y="598575"/>
            <a:ext cx="7030500" cy="771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4A86E8"/>
                </a:solidFill>
              </a:rPr>
              <a:t>Project Profile </a:t>
            </a:r>
            <a:endParaRPr dirty="0">
              <a:solidFill>
                <a:srgbClr val="4A86E8"/>
              </a:solidFill>
            </a:endParaRPr>
          </a:p>
        </p:txBody>
      </p:sp>
      <p:sp>
        <p:nvSpPr>
          <p:cNvPr id="299" name="Google Shape;299;p16"/>
          <p:cNvSpPr txBox="1">
            <a:spLocks noGrp="1"/>
          </p:cNvSpPr>
          <p:nvPr>
            <p:ph type="body" idx="1"/>
          </p:nvPr>
        </p:nvSpPr>
        <p:spPr>
          <a:xfrm>
            <a:off x="220980" y="1733410"/>
            <a:ext cx="5006340" cy="3234830"/>
          </a:xfrm>
          <a:prstGeom prst="rect">
            <a:avLst/>
          </a:prstGeom>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1400" b="1" dirty="0">
                <a:solidFill>
                  <a:srgbClr val="000000"/>
                </a:solidFill>
                <a:latin typeface="Nunito" panose="020B0604020202020204" charset="0"/>
                <a:ea typeface="Arial"/>
                <a:cs typeface="Arial"/>
                <a:sym typeface="Arial"/>
              </a:rPr>
              <a:t>Project Name:</a:t>
            </a:r>
            <a:r>
              <a:rPr lang="en" sz="1400" dirty="0">
                <a:solidFill>
                  <a:srgbClr val="000000"/>
                </a:solidFill>
                <a:latin typeface="Nunito" panose="020B0604020202020204" charset="0"/>
                <a:ea typeface="Arial"/>
                <a:cs typeface="Arial"/>
                <a:sym typeface="Arial"/>
              </a:rPr>
              <a:t> GlowCosmetic – Online Cosmetics </a:t>
            </a:r>
            <a:r>
              <a:rPr lang="en" sz="1400" dirty="0" smtClean="0">
                <a:solidFill>
                  <a:srgbClr val="000000"/>
                </a:solidFill>
                <a:latin typeface="Nunito" panose="020B0604020202020204" charset="0"/>
                <a:ea typeface="Arial"/>
                <a:cs typeface="Arial"/>
                <a:sym typeface="Arial"/>
              </a:rPr>
              <a:t>Store</a:t>
            </a:r>
          </a:p>
          <a:p>
            <a:pPr marL="0" lvl="0" indent="0" algn="l" rtl="0">
              <a:lnSpc>
                <a:spcPct val="150000"/>
              </a:lnSpc>
              <a:spcBef>
                <a:spcPts val="1200"/>
              </a:spcBef>
              <a:spcAft>
                <a:spcPts val="0"/>
              </a:spcAft>
              <a:buNone/>
            </a:pPr>
            <a:r>
              <a:rPr lang="en" sz="1400" b="1" dirty="0" smtClean="0">
                <a:solidFill>
                  <a:srgbClr val="000000"/>
                </a:solidFill>
                <a:latin typeface="Nunito" panose="020B0604020202020204" charset="0"/>
                <a:ea typeface="Arial"/>
                <a:cs typeface="Arial"/>
                <a:sym typeface="Arial"/>
              </a:rPr>
              <a:t>Frontend</a:t>
            </a:r>
            <a:r>
              <a:rPr lang="en" sz="1400" b="1" dirty="0">
                <a:solidFill>
                  <a:srgbClr val="000000"/>
                </a:solidFill>
                <a:latin typeface="Nunito" panose="020B0604020202020204" charset="0"/>
                <a:ea typeface="Arial"/>
                <a:cs typeface="Arial"/>
                <a:sym typeface="Arial"/>
              </a:rPr>
              <a:t>:</a:t>
            </a:r>
            <a:r>
              <a:rPr lang="en" sz="1400" dirty="0">
                <a:solidFill>
                  <a:srgbClr val="000000"/>
                </a:solidFill>
                <a:latin typeface="Nunito" panose="020B0604020202020204" charset="0"/>
                <a:ea typeface="Arial"/>
                <a:cs typeface="Arial"/>
                <a:sym typeface="Arial"/>
              </a:rPr>
              <a:t> React.js (JavaScript, JSX, Bootstrap,css )</a:t>
            </a:r>
            <a:br>
              <a:rPr lang="en" sz="1400" dirty="0">
                <a:solidFill>
                  <a:srgbClr val="000000"/>
                </a:solidFill>
                <a:latin typeface="Nunito" panose="020B0604020202020204" charset="0"/>
                <a:ea typeface="Arial"/>
                <a:cs typeface="Arial"/>
                <a:sym typeface="Arial"/>
              </a:rPr>
            </a:br>
            <a:endParaRPr sz="1400" dirty="0">
              <a:solidFill>
                <a:srgbClr val="000000"/>
              </a:solidFill>
              <a:latin typeface="Nunito" panose="020B0604020202020204" charset="0"/>
              <a:ea typeface="Arial"/>
              <a:cs typeface="Arial"/>
              <a:sym typeface="Arial"/>
            </a:endParaRPr>
          </a:p>
          <a:p>
            <a:pPr marL="457200" lvl="0" indent="-317500" algn="l" rtl="0">
              <a:lnSpc>
                <a:spcPct val="100000"/>
              </a:lnSpc>
              <a:spcBef>
                <a:spcPts val="0"/>
              </a:spcBef>
              <a:spcAft>
                <a:spcPts val="0"/>
              </a:spcAft>
              <a:buClr>
                <a:srgbClr val="000000"/>
              </a:buClr>
              <a:buSzPts val="1400"/>
              <a:buFont typeface="Arial"/>
              <a:buChar char="●"/>
            </a:pPr>
            <a:r>
              <a:rPr lang="en" sz="1400" b="1" dirty="0">
                <a:solidFill>
                  <a:srgbClr val="000000"/>
                </a:solidFill>
                <a:latin typeface="Nunito" panose="020B0604020202020204" charset="0"/>
                <a:ea typeface="Arial"/>
                <a:cs typeface="Arial"/>
                <a:sym typeface="Arial"/>
              </a:rPr>
              <a:t>Backend:</a:t>
            </a:r>
            <a:r>
              <a:rPr lang="en" sz="1400" dirty="0">
                <a:solidFill>
                  <a:srgbClr val="000000"/>
                </a:solidFill>
                <a:latin typeface="Nunito" panose="020B0604020202020204" charset="0"/>
                <a:ea typeface="Arial"/>
                <a:cs typeface="Arial"/>
                <a:sym typeface="Arial"/>
              </a:rPr>
              <a:t> Node.js with Express.js</a:t>
            </a:r>
            <a:br>
              <a:rPr lang="en" sz="1400" dirty="0">
                <a:solidFill>
                  <a:srgbClr val="000000"/>
                </a:solidFill>
                <a:latin typeface="Nunito" panose="020B0604020202020204" charset="0"/>
                <a:ea typeface="Arial"/>
                <a:cs typeface="Arial"/>
                <a:sym typeface="Arial"/>
              </a:rPr>
            </a:br>
            <a:endParaRPr sz="1400" dirty="0">
              <a:solidFill>
                <a:srgbClr val="000000"/>
              </a:solidFill>
              <a:latin typeface="Nunito" panose="020B0604020202020204" charset="0"/>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b="1" dirty="0">
                <a:solidFill>
                  <a:srgbClr val="000000"/>
                </a:solidFill>
                <a:latin typeface="Nunito" panose="020B0604020202020204" charset="0"/>
                <a:ea typeface="Arial"/>
                <a:cs typeface="Arial"/>
                <a:sym typeface="Arial"/>
              </a:rPr>
              <a:t>Database:</a:t>
            </a:r>
            <a:r>
              <a:rPr lang="en" sz="1400" dirty="0">
                <a:solidFill>
                  <a:srgbClr val="000000"/>
                </a:solidFill>
                <a:latin typeface="Nunito" panose="020B0604020202020204" charset="0"/>
                <a:ea typeface="Arial"/>
                <a:cs typeface="Arial"/>
                <a:sym typeface="Arial"/>
              </a:rPr>
              <a:t> MongoDB with Mongoose</a:t>
            </a:r>
            <a:br>
              <a:rPr lang="en" sz="1400" dirty="0">
                <a:solidFill>
                  <a:srgbClr val="000000"/>
                </a:solidFill>
                <a:latin typeface="Nunito" panose="020B0604020202020204" charset="0"/>
                <a:ea typeface="Arial"/>
                <a:cs typeface="Arial"/>
                <a:sym typeface="Arial"/>
              </a:rPr>
            </a:br>
            <a:endParaRPr sz="1400" dirty="0">
              <a:solidFill>
                <a:srgbClr val="000000"/>
              </a:solidFill>
              <a:latin typeface="Nunito" panose="020B0604020202020204" charset="0"/>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b="1" dirty="0">
                <a:solidFill>
                  <a:srgbClr val="000000"/>
                </a:solidFill>
                <a:latin typeface="Nunito" panose="020B0604020202020204" charset="0"/>
                <a:ea typeface="Arial"/>
                <a:cs typeface="Arial"/>
                <a:sym typeface="Arial"/>
              </a:rPr>
              <a:t>Other Tools:</a:t>
            </a:r>
            <a:r>
              <a:rPr lang="en" sz="1400" dirty="0">
                <a:solidFill>
                  <a:srgbClr val="000000"/>
                </a:solidFill>
                <a:latin typeface="Nunito" panose="020B0604020202020204" charset="0"/>
                <a:ea typeface="Arial"/>
                <a:cs typeface="Arial"/>
                <a:sym typeface="Arial"/>
              </a:rPr>
              <a:t> Git/GitHub, Postman (API Testing), Razorpay (Payment Gateway), JWT Authentication</a:t>
            </a:r>
            <a:endParaRPr sz="2400" b="1" dirty="0">
              <a:solidFill>
                <a:srgbClr val="4A86E8"/>
              </a:solidFill>
              <a:latin typeface="Nunito" panose="020B0604020202020204" charset="0"/>
            </a:endParaRPr>
          </a:p>
        </p:txBody>
      </p:sp>
      <p:sp>
        <p:nvSpPr>
          <p:cNvPr id="300" name="Google Shape;300;p16"/>
          <p:cNvSpPr txBox="1">
            <a:spLocks noGrp="1"/>
          </p:cNvSpPr>
          <p:nvPr>
            <p:ph type="body" idx="2"/>
          </p:nvPr>
        </p:nvSpPr>
        <p:spPr>
          <a:xfrm>
            <a:off x="4819050" y="2022970"/>
            <a:ext cx="3997200" cy="2267090"/>
          </a:xfrm>
          <a:prstGeom prst="rect">
            <a:avLst/>
          </a:prstGeom>
        </p:spPr>
        <p:txBody>
          <a:bodyPr spcFirstLastPara="1" wrap="square" lIns="91425" tIns="91425" rIns="91425" bIns="91425" anchor="t" anchorCtr="0">
            <a:normAutofit/>
          </a:bodyPr>
          <a:lstStyle/>
          <a:p>
            <a:pPr marL="457200" lvl="0" indent="0" algn="l" rtl="0">
              <a:spcBef>
                <a:spcPts val="0"/>
              </a:spcBef>
              <a:spcAft>
                <a:spcPts val="1200"/>
              </a:spcAft>
              <a:buNone/>
            </a:pPr>
            <a:r>
              <a:rPr lang="en" sz="1400" dirty="0">
                <a:solidFill>
                  <a:srgbClr val="000000"/>
                </a:solidFill>
                <a:latin typeface="Nunito" panose="020B0604020202020204" charset="0"/>
                <a:ea typeface="Arial"/>
                <a:cs typeface="Arial"/>
                <a:sym typeface="Arial"/>
              </a:rPr>
              <a:t>Team Members: </a:t>
            </a:r>
            <a:endParaRPr lang="en" sz="1400" dirty="0" smtClean="0">
              <a:solidFill>
                <a:srgbClr val="000000"/>
              </a:solidFill>
              <a:latin typeface="Nunito" panose="020B0604020202020204" charset="0"/>
              <a:ea typeface="Arial"/>
              <a:cs typeface="Arial"/>
              <a:sym typeface="Arial"/>
            </a:endParaRPr>
          </a:p>
          <a:p>
            <a:pPr marL="457200" lvl="0" indent="0" algn="l" rtl="0">
              <a:spcBef>
                <a:spcPts val="0"/>
              </a:spcBef>
              <a:spcAft>
                <a:spcPts val="1200"/>
              </a:spcAft>
              <a:buNone/>
            </a:pPr>
            <a:r>
              <a:rPr lang="en" sz="1400" dirty="0" smtClean="0">
                <a:solidFill>
                  <a:srgbClr val="000000"/>
                </a:solidFill>
                <a:latin typeface="Nunito" panose="020B0604020202020204" charset="0"/>
                <a:ea typeface="Arial"/>
                <a:cs typeface="Arial"/>
                <a:sym typeface="Arial"/>
              </a:rPr>
              <a:t>Angel Raiyani (24SOECA21089)</a:t>
            </a:r>
          </a:p>
          <a:p>
            <a:pPr marL="457200" lvl="0" indent="0" algn="l" rtl="0">
              <a:spcBef>
                <a:spcPts val="0"/>
              </a:spcBef>
              <a:spcAft>
                <a:spcPts val="1200"/>
              </a:spcAft>
              <a:buNone/>
            </a:pPr>
            <a:r>
              <a:rPr lang="en" sz="1400" dirty="0" smtClean="0">
                <a:solidFill>
                  <a:srgbClr val="000000"/>
                </a:solidFill>
                <a:latin typeface="Nunito" panose="020B0604020202020204" charset="0"/>
                <a:ea typeface="Arial"/>
                <a:cs typeface="Arial"/>
                <a:sym typeface="Arial"/>
              </a:rPr>
              <a:t>Project </a:t>
            </a:r>
            <a:r>
              <a:rPr lang="en" sz="1400" dirty="0">
                <a:solidFill>
                  <a:srgbClr val="000000"/>
                </a:solidFill>
                <a:latin typeface="Nunito" panose="020B0604020202020204" charset="0"/>
                <a:ea typeface="Arial"/>
                <a:cs typeface="Arial"/>
                <a:sym typeface="Arial"/>
              </a:rPr>
              <a:t>Guide: </a:t>
            </a:r>
            <a:r>
              <a:rPr lang="en" sz="1400" dirty="0" smtClean="0">
                <a:solidFill>
                  <a:srgbClr val="000000"/>
                </a:solidFill>
                <a:latin typeface="Nunito" panose="020B0604020202020204" charset="0"/>
                <a:ea typeface="Arial"/>
                <a:cs typeface="Arial"/>
                <a:sym typeface="Arial"/>
              </a:rPr>
              <a:t>Chirag Hirani , Technical Head</a:t>
            </a:r>
          </a:p>
          <a:p>
            <a:pPr marL="457200" lvl="0" indent="0" algn="l" rtl="0">
              <a:spcBef>
                <a:spcPts val="0"/>
              </a:spcBef>
              <a:spcAft>
                <a:spcPts val="1200"/>
              </a:spcAft>
              <a:buNone/>
            </a:pPr>
            <a:r>
              <a:rPr lang="en" sz="1400" dirty="0" smtClean="0">
                <a:solidFill>
                  <a:srgbClr val="000000"/>
                </a:solidFill>
                <a:latin typeface="Nunito" panose="020B0604020202020204" charset="0"/>
                <a:ea typeface="Arial"/>
                <a:cs typeface="Arial"/>
                <a:sym typeface="Arial"/>
              </a:rPr>
              <a:t>  </a:t>
            </a:r>
            <a:r>
              <a:rPr lang="en" sz="1400" dirty="0">
                <a:solidFill>
                  <a:srgbClr val="000000"/>
                </a:solidFill>
                <a:latin typeface="Nunito" panose="020B0604020202020204" charset="0"/>
                <a:ea typeface="Arial"/>
                <a:cs typeface="Arial"/>
                <a:sym typeface="Arial"/>
              </a:rPr>
              <a:t>At: </a:t>
            </a:r>
            <a:r>
              <a:rPr lang="en" sz="1400" dirty="0" smtClean="0">
                <a:solidFill>
                  <a:srgbClr val="000000"/>
                </a:solidFill>
                <a:latin typeface="Nunito" panose="020B0604020202020204" charset="0"/>
                <a:ea typeface="Arial"/>
                <a:cs typeface="Arial"/>
                <a:sym typeface="Arial"/>
              </a:rPr>
              <a:t>Decent Infoways </a:t>
            </a:r>
            <a:r>
              <a:rPr lang="en" sz="1400" dirty="0">
                <a:solidFill>
                  <a:srgbClr val="000000"/>
                </a:solidFill>
                <a:latin typeface="Nunito" panose="020B0604020202020204" charset="0"/>
                <a:ea typeface="Arial"/>
                <a:cs typeface="Arial"/>
                <a:sym typeface="Arial"/>
              </a:rPr>
              <a:t>Pvt. Ltd.</a:t>
            </a:r>
            <a:endParaRPr sz="1400" b="1" dirty="0">
              <a:solidFill>
                <a:srgbClr val="4A86E8"/>
              </a:solidFill>
              <a:latin typeface="Nunito" panose="020B0604020202020204" charset="0"/>
            </a:endParaRPr>
          </a:p>
        </p:txBody>
      </p:sp>
      <p:cxnSp>
        <p:nvCxnSpPr>
          <p:cNvPr id="4" name="Straight Connector 3"/>
          <p:cNvCxnSpPr/>
          <p:nvPr/>
        </p:nvCxnSpPr>
        <p:spPr>
          <a:xfrm>
            <a:off x="4991100" y="2160130"/>
            <a:ext cx="30480" cy="1992770"/>
          </a:xfrm>
          <a:prstGeom prst="line">
            <a:avLst/>
          </a:prstGeom>
          <a:ln>
            <a:solidFill>
              <a:srgbClr val="4A86E8"/>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432560" y="1287780"/>
            <a:ext cx="5844540" cy="3467099"/>
          </a:xfrm>
          <a:prstGeom prst="rect">
            <a:avLst/>
          </a:prstGeom>
          <a:ln>
            <a:noFill/>
          </a:ln>
          <a:effectLst>
            <a:softEdge rad="112500"/>
          </a:effectLst>
        </p:spPr>
      </p:pic>
      <p:sp>
        <p:nvSpPr>
          <p:cNvPr id="5" name="Title 4"/>
          <p:cNvSpPr>
            <a:spLocks noGrp="1"/>
          </p:cNvSpPr>
          <p:nvPr>
            <p:ph type="title"/>
          </p:nvPr>
        </p:nvSpPr>
        <p:spPr>
          <a:xfrm>
            <a:off x="1303800" y="598575"/>
            <a:ext cx="7030500" cy="689205"/>
          </a:xfrm>
        </p:spPr>
        <p:txBody>
          <a:bodyPr/>
          <a:lstStyle/>
          <a:p>
            <a:r>
              <a:rPr lang="en-GB" dirty="0" smtClean="0">
                <a:solidFill>
                  <a:srgbClr val="4A86E8"/>
                </a:solidFill>
              </a:rPr>
              <a:t>Use Case Diagram </a:t>
            </a:r>
            <a:endParaRPr lang="en-GB" dirty="0">
              <a:solidFill>
                <a:srgbClr val="4A86E8"/>
              </a:solidFill>
            </a:endParaRPr>
          </a:p>
        </p:txBody>
      </p:sp>
    </p:spTree>
    <p:extLst>
      <p:ext uri="{BB962C8B-B14F-4D97-AF65-F5344CB8AC3E}">
        <p14:creationId xmlns:p14="http://schemas.microsoft.com/office/powerpoint/2010/main" val="1295557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idx="4294967295"/>
          </p:nvPr>
        </p:nvSpPr>
        <p:spPr>
          <a:xfrm>
            <a:off x="769620" y="2129473"/>
            <a:ext cx="3017838" cy="666750"/>
          </a:xfrm>
        </p:spPr>
        <p:txBody>
          <a:bodyPr/>
          <a:lstStyle/>
          <a:p>
            <a:r>
              <a:rPr lang="en-GB" dirty="0" smtClean="0">
                <a:solidFill>
                  <a:srgbClr val="4A86E8"/>
                </a:solidFill>
              </a:rPr>
              <a:t>System Design </a:t>
            </a:r>
            <a:endParaRPr lang="en-GB" dirty="0">
              <a:solidFill>
                <a:srgbClr val="4A86E8"/>
              </a:solidFill>
            </a:endParaRPr>
          </a:p>
        </p:txBody>
      </p:sp>
      <p:pic>
        <p:nvPicPr>
          <p:cNvPr id="8" name="Picture 7"/>
          <p:cNvPicPr>
            <a:picLocks noChangeAspect="1"/>
          </p:cNvPicPr>
          <p:nvPr/>
        </p:nvPicPr>
        <p:blipFill>
          <a:blip r:embed="rId2"/>
          <a:stretch>
            <a:fillRect/>
          </a:stretch>
        </p:blipFill>
        <p:spPr>
          <a:xfrm>
            <a:off x="3939540" y="236220"/>
            <a:ext cx="4785360" cy="4701540"/>
          </a:xfrm>
          <a:prstGeom prst="rect">
            <a:avLst/>
          </a:prstGeom>
        </p:spPr>
      </p:pic>
    </p:spTree>
    <p:extLst>
      <p:ext uri="{BB962C8B-B14F-4D97-AF65-F5344CB8AC3E}">
        <p14:creationId xmlns:p14="http://schemas.microsoft.com/office/powerpoint/2010/main" val="1582700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741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905355974"/>
              </p:ext>
            </p:extLst>
          </p:nvPr>
        </p:nvGraphicFramePr>
        <p:xfrm>
          <a:off x="1196340" y="1230394"/>
          <a:ext cx="7818120" cy="3838144"/>
        </p:xfrm>
        <a:graphic>
          <a:graphicData uri="http://schemas.openxmlformats.org/drawingml/2006/table">
            <a:tbl>
              <a:tblPr>
                <a:tableStyleId>{2D5ABB26-0587-4C30-8999-92F81FD0307C}</a:tableStyleId>
              </a:tblPr>
              <a:tblGrid>
                <a:gridCol w="1563624">
                  <a:extLst>
                    <a:ext uri="{9D8B030D-6E8A-4147-A177-3AD203B41FA5}">
                      <a16:colId xmlns:a16="http://schemas.microsoft.com/office/drawing/2014/main" val="3634834469"/>
                    </a:ext>
                  </a:extLst>
                </a:gridCol>
                <a:gridCol w="1563624">
                  <a:extLst>
                    <a:ext uri="{9D8B030D-6E8A-4147-A177-3AD203B41FA5}">
                      <a16:colId xmlns:a16="http://schemas.microsoft.com/office/drawing/2014/main" val="4267423803"/>
                    </a:ext>
                  </a:extLst>
                </a:gridCol>
                <a:gridCol w="1563624">
                  <a:extLst>
                    <a:ext uri="{9D8B030D-6E8A-4147-A177-3AD203B41FA5}">
                      <a16:colId xmlns:a16="http://schemas.microsoft.com/office/drawing/2014/main" val="1057484369"/>
                    </a:ext>
                  </a:extLst>
                </a:gridCol>
                <a:gridCol w="1563624">
                  <a:extLst>
                    <a:ext uri="{9D8B030D-6E8A-4147-A177-3AD203B41FA5}">
                      <a16:colId xmlns:a16="http://schemas.microsoft.com/office/drawing/2014/main" val="3048356467"/>
                    </a:ext>
                  </a:extLst>
                </a:gridCol>
                <a:gridCol w="1563624">
                  <a:extLst>
                    <a:ext uri="{9D8B030D-6E8A-4147-A177-3AD203B41FA5}">
                      <a16:colId xmlns:a16="http://schemas.microsoft.com/office/drawing/2014/main" val="3202442424"/>
                    </a:ext>
                  </a:extLst>
                </a:gridCol>
              </a:tblGrid>
              <a:tr h="194148">
                <a:tc>
                  <a:txBody>
                    <a:bodyPr/>
                    <a:lstStyle/>
                    <a:p>
                      <a:r>
                        <a:rPr lang="en-GB" sz="900" dirty="0">
                          <a:solidFill>
                            <a:schemeClr val="bg1"/>
                          </a:solidFill>
                        </a:rPr>
                        <a:t>Field </a:t>
                      </a:r>
                      <a:r>
                        <a:rPr lang="en-GB" sz="900" dirty="0" smtClean="0">
                          <a:solidFill>
                            <a:schemeClr val="bg1"/>
                          </a:solidFill>
                        </a:rPr>
                        <a:t>Name</a:t>
                      </a:r>
                      <a:endParaRPr lang="en-GB" sz="900" dirty="0">
                        <a:solidFill>
                          <a:schemeClr val="bg1"/>
                        </a:solidFill>
                      </a:endParaRP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Data Type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Size/Format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Description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Constraints / Default Value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547997041"/>
                  </a:ext>
                </a:extLst>
              </a:tr>
              <a:tr h="339238">
                <a:tc>
                  <a:txBody>
                    <a:bodyPr/>
                    <a:lstStyle/>
                    <a:p>
                      <a:r>
                        <a:rPr lang="en-GB" sz="900" dirty="0" err="1">
                          <a:solidFill>
                            <a:schemeClr val="bg1"/>
                          </a:solidFill>
                        </a:rPr>
                        <a:t>fullname</a:t>
                      </a:r>
                      <a:endParaRPr lang="en-GB" sz="900" dirty="0">
                        <a:solidFill>
                          <a:schemeClr val="bg1"/>
                        </a:solidFill>
                      </a:endParaRP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Variable (max ~255 chars typical)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Full name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576633961"/>
                  </a:ext>
                </a:extLst>
              </a:tr>
              <a:tr h="339238">
                <a:tc>
                  <a:txBody>
                    <a:bodyPr/>
                    <a:lstStyle/>
                    <a:p>
                      <a:r>
                        <a:rPr lang="en-GB" sz="900" dirty="0">
                          <a:solidFill>
                            <a:schemeClr val="bg1"/>
                          </a:solidFill>
                        </a:rPr>
                        <a:t>email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Valid email format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Unique email address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 Unique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627388365"/>
                  </a:ext>
                </a:extLst>
              </a:tr>
              <a:tr h="339238">
                <a:tc>
                  <a:txBody>
                    <a:bodyPr/>
                    <a:lstStyle/>
                    <a:p>
                      <a:r>
                        <a:rPr lang="en-GB" sz="900" dirty="0">
                          <a:solidFill>
                            <a:schemeClr val="bg1"/>
                          </a:solidFill>
                        </a:rPr>
                        <a:t>mobile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10–15 digits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Mobile phone number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811232776"/>
                  </a:ext>
                </a:extLst>
              </a:tr>
              <a:tr h="253866">
                <a:tc>
                  <a:txBody>
                    <a:bodyPr/>
                    <a:lstStyle/>
                    <a:p>
                      <a:r>
                        <a:rPr lang="en-GB" sz="900">
                          <a:solidFill>
                            <a:schemeClr val="bg1"/>
                          </a:solidFill>
                        </a:rPr>
                        <a:t>password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Encrypted/hashed 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User login password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736321738"/>
                  </a:ext>
                </a:extLst>
              </a:tr>
              <a:tr h="253866">
                <a:tc>
                  <a:txBody>
                    <a:bodyPr/>
                    <a:lstStyle/>
                    <a:p>
                      <a:r>
                        <a:rPr lang="en-GB" sz="900">
                          <a:solidFill>
                            <a:schemeClr val="bg1"/>
                          </a:solidFill>
                        </a:rPr>
                        <a:t>gender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"Male", "Female", "Other"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Gender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317575857"/>
                  </a:ext>
                </a:extLst>
              </a:tr>
              <a:tr h="339238">
                <a:tc>
                  <a:txBody>
                    <a:bodyPr/>
                    <a:lstStyle/>
                    <a:p>
                      <a:r>
                        <a:rPr lang="en-GB" sz="900">
                          <a:solidFill>
                            <a:schemeClr val="bg1"/>
                          </a:solidFill>
                        </a:rPr>
                        <a:t>pincode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6–10 digits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Area/ZIP code of user’s location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718040808"/>
                  </a:ext>
                </a:extLst>
              </a:tr>
              <a:tr h="339238">
                <a:tc>
                  <a:txBody>
                    <a:bodyPr/>
                    <a:lstStyle/>
                    <a:p>
                      <a:r>
                        <a:rPr lang="en-GB" sz="900">
                          <a:solidFill>
                            <a:schemeClr val="bg1"/>
                          </a:solidFill>
                        </a:rPr>
                        <a:t>address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Variable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Residential address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087230682"/>
                  </a:ext>
                </a:extLst>
              </a:tr>
              <a:tr h="339238">
                <a:tc>
                  <a:txBody>
                    <a:bodyPr/>
                    <a:lstStyle/>
                    <a:p>
                      <a:r>
                        <a:rPr lang="en-GB" sz="900">
                          <a:solidFill>
                            <a:schemeClr val="bg1"/>
                          </a:solidFill>
                        </a:rPr>
                        <a:t>profilePic</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 (URL/path)</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Variable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Path or URL of the profile picture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null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664092719"/>
                  </a:ext>
                </a:extLst>
              </a:tr>
              <a:tr h="253866">
                <a:tc>
                  <a:txBody>
                    <a:bodyPr/>
                    <a:lstStyle/>
                    <a:p>
                      <a:r>
                        <a:rPr lang="en-GB" sz="900">
                          <a:solidFill>
                            <a:schemeClr val="bg1"/>
                          </a:solidFill>
                        </a:rPr>
                        <a:t>role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e.g., "user", "admin"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Role assigned to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149156541"/>
                  </a:ext>
                </a:extLst>
              </a:tr>
              <a:tr h="253866">
                <a:tc>
                  <a:txBody>
                    <a:bodyPr/>
                    <a:lstStyle/>
                    <a:p>
                      <a:r>
                        <a:rPr lang="en-GB" sz="900">
                          <a:solidFill>
                            <a:schemeClr val="bg1"/>
                          </a:solidFill>
                        </a:rPr>
                        <a:t>status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"Active"/"Inactive"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Account status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"Inactive"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429945888"/>
                  </a:ext>
                </a:extLst>
              </a:tr>
              <a:tr h="339238">
                <a:tc>
                  <a:txBody>
                    <a:bodyPr/>
                    <a:lstStyle/>
                    <a:p>
                      <a:r>
                        <a:rPr lang="en-GB" sz="900">
                          <a:solidFill>
                            <a:schemeClr val="bg1"/>
                          </a:solidFill>
                        </a:rPr>
                        <a:t>token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JWT or session token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Authentication/verification token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Optional, Default: null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419707297"/>
                  </a:ext>
                </a:extLst>
              </a:tr>
              <a:tr h="253866">
                <a:tc>
                  <a:txBody>
                    <a:bodyPr/>
                    <a:lstStyle/>
                    <a:p>
                      <a:r>
                        <a:rPr lang="en-GB" sz="900">
                          <a:solidFill>
                            <a:schemeClr val="bg1"/>
                          </a:solidFill>
                        </a:rPr>
                        <a:t>createdAt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Date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ISO Date format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Record creation timestamp</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a:t>
                      </a:r>
                      <a:r>
                        <a:rPr lang="en-GB" sz="900" dirty="0" err="1">
                          <a:solidFill>
                            <a:schemeClr val="bg1"/>
                          </a:solidFill>
                        </a:rPr>
                        <a:t>Date.now</a:t>
                      </a:r>
                      <a:endParaRPr lang="en-GB" sz="900" dirty="0">
                        <a:solidFill>
                          <a:schemeClr val="bg1"/>
                        </a:solidFill>
                      </a:endParaRP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531202629"/>
                  </a:ext>
                </a:extLst>
              </a:tr>
            </a:tbl>
          </a:graphicData>
        </a:graphic>
      </p:graphicFrame>
      <p:sp>
        <p:nvSpPr>
          <p:cNvPr id="5" name="TextBox 4"/>
          <p:cNvSpPr txBox="1"/>
          <p:nvPr/>
        </p:nvSpPr>
        <p:spPr>
          <a:xfrm>
            <a:off x="1356360" y="861060"/>
            <a:ext cx="1028700" cy="369332"/>
          </a:xfrm>
          <a:prstGeom prst="rect">
            <a:avLst/>
          </a:prstGeom>
          <a:noFill/>
        </p:spPr>
        <p:txBody>
          <a:bodyPr wrap="square" rtlCol="0">
            <a:spAutoFit/>
          </a:bodyPr>
          <a:lstStyle/>
          <a:p>
            <a:r>
              <a:rPr lang="en-GB" sz="1800" dirty="0" smtClean="0">
                <a:solidFill>
                  <a:schemeClr val="bg1"/>
                </a:solidFill>
              </a:rPr>
              <a:t>User :</a:t>
            </a:r>
            <a:endParaRPr lang="en-GB" sz="1800" dirty="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741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Product :</a:t>
            </a:r>
            <a:endParaRPr lang="en-GB" sz="1800" dirty="0">
              <a:solidFill>
                <a:schemeClr val="bg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507046059"/>
              </p:ext>
            </p:extLst>
          </p:nvPr>
        </p:nvGraphicFramePr>
        <p:xfrm>
          <a:off x="1356360" y="1295403"/>
          <a:ext cx="7559035" cy="3761272"/>
        </p:xfrm>
        <a:graphic>
          <a:graphicData uri="http://schemas.openxmlformats.org/drawingml/2006/table">
            <a:tbl>
              <a:tblPr>
                <a:tableStyleId>{69C7853C-536D-4A76-A0AE-DD22124D55A5}</a:tableStyleId>
              </a:tblPr>
              <a:tblGrid>
                <a:gridCol w="1511807">
                  <a:extLst>
                    <a:ext uri="{9D8B030D-6E8A-4147-A177-3AD203B41FA5}">
                      <a16:colId xmlns:a16="http://schemas.microsoft.com/office/drawing/2014/main" val="2559926026"/>
                    </a:ext>
                  </a:extLst>
                </a:gridCol>
                <a:gridCol w="1511807">
                  <a:extLst>
                    <a:ext uri="{9D8B030D-6E8A-4147-A177-3AD203B41FA5}">
                      <a16:colId xmlns:a16="http://schemas.microsoft.com/office/drawing/2014/main" val="3240221798"/>
                    </a:ext>
                  </a:extLst>
                </a:gridCol>
                <a:gridCol w="1511807">
                  <a:extLst>
                    <a:ext uri="{9D8B030D-6E8A-4147-A177-3AD203B41FA5}">
                      <a16:colId xmlns:a16="http://schemas.microsoft.com/office/drawing/2014/main" val="936858541"/>
                    </a:ext>
                  </a:extLst>
                </a:gridCol>
                <a:gridCol w="1511807">
                  <a:extLst>
                    <a:ext uri="{9D8B030D-6E8A-4147-A177-3AD203B41FA5}">
                      <a16:colId xmlns:a16="http://schemas.microsoft.com/office/drawing/2014/main" val="3799831562"/>
                    </a:ext>
                  </a:extLst>
                </a:gridCol>
                <a:gridCol w="1511807">
                  <a:extLst>
                    <a:ext uri="{9D8B030D-6E8A-4147-A177-3AD203B41FA5}">
                      <a16:colId xmlns:a16="http://schemas.microsoft.com/office/drawing/2014/main" val="3769224213"/>
                    </a:ext>
                  </a:extLst>
                </a:gridCol>
              </a:tblGrid>
              <a:tr h="258026">
                <a:tc>
                  <a:txBody>
                    <a:bodyPr/>
                    <a:lstStyle/>
                    <a:p>
                      <a:r>
                        <a:rPr lang="en-GB" sz="800" dirty="0">
                          <a:solidFill>
                            <a:schemeClr val="bg1"/>
                          </a:solidFill>
                        </a:rPr>
                        <a:t>Field Name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Data Type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Size/Format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Description</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Constraints / Default Value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208602445"/>
                  </a:ext>
                </a:extLst>
              </a:tr>
              <a:tr h="258026">
                <a:tc>
                  <a:txBody>
                    <a:bodyPr/>
                    <a:lstStyle/>
                    <a:p>
                      <a:r>
                        <a:rPr lang="en-GB" sz="800" dirty="0">
                          <a:solidFill>
                            <a:schemeClr val="bg1"/>
                          </a:solidFill>
                        </a:rPr>
                        <a:t>name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 (trimmed)</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Name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Required</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425917484"/>
                  </a:ext>
                </a:extLst>
              </a:tr>
              <a:tr h="364274">
                <a:tc>
                  <a:txBody>
                    <a:bodyPr/>
                    <a:lstStyle/>
                    <a:p>
                      <a:r>
                        <a:rPr lang="en-GB" sz="800" dirty="0">
                          <a:solidFill>
                            <a:schemeClr val="bg1"/>
                          </a:solidFill>
                        </a:rPr>
                        <a:t>description</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Detailed description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Default: ""</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36900988"/>
                  </a:ext>
                </a:extLst>
              </a:tr>
              <a:tr h="258026">
                <a:tc>
                  <a:txBody>
                    <a:bodyPr/>
                    <a:lstStyle/>
                    <a:p>
                      <a:r>
                        <a:rPr lang="en-GB" sz="800">
                          <a:solidFill>
                            <a:schemeClr val="bg1"/>
                          </a:solidFill>
                        </a:rPr>
                        <a:t>price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Number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Decimal</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Selling price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Required, min: 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706615481"/>
                  </a:ext>
                </a:extLst>
              </a:tr>
              <a:tr h="258026">
                <a:tc>
                  <a:txBody>
                    <a:bodyPr/>
                    <a:lstStyle/>
                    <a:p>
                      <a:r>
                        <a:rPr lang="en-GB" sz="800">
                          <a:solidFill>
                            <a:schemeClr val="bg1"/>
                          </a:solidFill>
                        </a:rPr>
                        <a:t>stock</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Number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Integer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Available stock quantity</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Required, min: 0, Default: 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972809590"/>
                  </a:ext>
                </a:extLst>
              </a:tr>
              <a:tr h="364274">
                <a:tc>
                  <a:txBody>
                    <a:bodyPr/>
                    <a:lstStyle/>
                    <a:p>
                      <a:r>
                        <a:rPr lang="en-GB" sz="800">
                          <a:solidFill>
                            <a:schemeClr val="bg1"/>
                          </a:solidFill>
                        </a:rPr>
                        <a:t>status</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"active" / "inactive"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Current availability status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Default: "active"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3125197330"/>
                  </a:ext>
                </a:extLst>
              </a:tr>
              <a:tr h="470518">
                <a:tc>
                  <a:txBody>
                    <a:bodyPr/>
                    <a:lstStyle/>
                    <a:p>
                      <a:r>
                        <a:rPr lang="en-GB" sz="800">
                          <a:solidFill>
                            <a:schemeClr val="bg1"/>
                          </a:solidFill>
                        </a:rPr>
                        <a:t>ml</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 (e.g., "100ml")</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Net quantity/volume of the cosmetic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Default: ""</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684716148"/>
                  </a:ext>
                </a:extLst>
              </a:tr>
              <a:tr h="364274">
                <a:tc>
                  <a:txBody>
                    <a:bodyPr/>
                    <a:lstStyle/>
                    <a:p>
                      <a:r>
                        <a:rPr lang="en-GB" sz="800">
                          <a:solidFill>
                            <a:schemeClr val="bg1"/>
                          </a:solidFill>
                        </a:rPr>
                        <a:t>discount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Number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0–100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Discount percentage on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min: 0, max: 100, Default: 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554764742"/>
                  </a:ext>
                </a:extLst>
              </a:tr>
              <a:tr h="364274">
                <a:tc>
                  <a:txBody>
                    <a:bodyPr/>
                    <a:lstStyle/>
                    <a:p>
                      <a:r>
                        <a:rPr lang="en-GB" sz="800">
                          <a:solidFill>
                            <a:schemeClr val="bg1"/>
                          </a:solidFill>
                        </a:rPr>
                        <a:t>category</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ObjectId (Reference)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Ref → Category Collection</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Category under which the product belongs</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Required</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4262529345"/>
                  </a:ext>
                </a:extLst>
              </a:tr>
              <a:tr h="258026">
                <a:tc>
                  <a:txBody>
                    <a:bodyPr/>
                    <a:lstStyle/>
                    <a:p>
                      <a:r>
                        <a:rPr lang="en-GB" sz="800">
                          <a:solidFill>
                            <a:schemeClr val="bg1"/>
                          </a:solidFill>
                        </a:rPr>
                        <a:t>image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 (URL/path)</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Path or URL of the product image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Default: ""</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159422123"/>
                  </a:ext>
                </a:extLst>
              </a:tr>
              <a:tr h="258026">
                <a:tc>
                  <a:txBody>
                    <a:bodyPr/>
                    <a:lstStyle/>
                    <a:p>
                      <a:r>
                        <a:rPr lang="en-GB" sz="800">
                          <a:solidFill>
                            <a:schemeClr val="bg1"/>
                          </a:solidFill>
                        </a:rPr>
                        <a:t>createdAt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Date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ISO Date format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Record creation timestamp</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Default: </a:t>
                      </a:r>
                      <a:r>
                        <a:rPr lang="en-GB" sz="800" dirty="0" err="1">
                          <a:solidFill>
                            <a:schemeClr val="bg1"/>
                          </a:solidFill>
                        </a:rPr>
                        <a:t>Date.now</a:t>
                      </a:r>
                      <a:endParaRPr lang="en-GB" sz="800" dirty="0">
                        <a:solidFill>
                          <a:schemeClr val="bg1"/>
                        </a:solidFill>
                      </a:endParaRP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737230934"/>
                  </a:ext>
                </a:extLst>
              </a:tr>
              <a:tr h="258026">
                <a:tc>
                  <a:txBody>
                    <a:bodyPr/>
                    <a:lstStyle/>
                    <a:p>
                      <a:r>
                        <a:rPr lang="en-GB" sz="800">
                          <a:solidFill>
                            <a:schemeClr val="bg1"/>
                          </a:solidFill>
                        </a:rPr>
                        <a:t>updatedAt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Date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ISO Date format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Last modified timestamp</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Auto-updated before save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874412694"/>
                  </a:ext>
                </a:extLst>
              </a:tr>
            </a:tbl>
          </a:graphicData>
        </a:graphic>
      </p:graphicFrame>
    </p:spTree>
    <p:extLst>
      <p:ext uri="{BB962C8B-B14F-4D97-AF65-F5344CB8AC3E}">
        <p14:creationId xmlns:p14="http://schemas.microsoft.com/office/powerpoint/2010/main" val="29863784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360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Cart :</a:t>
            </a:r>
            <a:endParaRPr lang="en-GB" sz="1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385167777"/>
              </p:ext>
            </p:extLst>
          </p:nvPr>
        </p:nvGraphicFramePr>
        <p:xfrm>
          <a:off x="311150" y="1351915"/>
          <a:ext cx="8521700" cy="3017520"/>
        </p:xfrm>
        <a:graphic>
          <a:graphicData uri="http://schemas.openxmlformats.org/drawingml/2006/table">
            <a:tbl>
              <a:tblPr/>
              <a:tblGrid>
                <a:gridCol w="1704340">
                  <a:extLst>
                    <a:ext uri="{9D8B030D-6E8A-4147-A177-3AD203B41FA5}">
                      <a16:colId xmlns:a16="http://schemas.microsoft.com/office/drawing/2014/main" val="1877953334"/>
                    </a:ext>
                  </a:extLst>
                </a:gridCol>
                <a:gridCol w="1704340">
                  <a:extLst>
                    <a:ext uri="{9D8B030D-6E8A-4147-A177-3AD203B41FA5}">
                      <a16:colId xmlns:a16="http://schemas.microsoft.com/office/drawing/2014/main" val="3175445845"/>
                    </a:ext>
                  </a:extLst>
                </a:gridCol>
                <a:gridCol w="1704340">
                  <a:extLst>
                    <a:ext uri="{9D8B030D-6E8A-4147-A177-3AD203B41FA5}">
                      <a16:colId xmlns:a16="http://schemas.microsoft.com/office/drawing/2014/main" val="2225868771"/>
                    </a:ext>
                  </a:extLst>
                </a:gridCol>
                <a:gridCol w="1704340">
                  <a:extLst>
                    <a:ext uri="{9D8B030D-6E8A-4147-A177-3AD203B41FA5}">
                      <a16:colId xmlns:a16="http://schemas.microsoft.com/office/drawing/2014/main" val="2401375064"/>
                    </a:ext>
                  </a:extLst>
                </a:gridCol>
                <a:gridCol w="1704340">
                  <a:extLst>
                    <a:ext uri="{9D8B030D-6E8A-4147-A177-3AD203B41FA5}">
                      <a16:colId xmlns:a16="http://schemas.microsoft.com/office/drawing/2014/main" val="2543334333"/>
                    </a:ext>
                  </a:extLst>
                </a:gridCol>
              </a:tblGrid>
              <a:tr h="0">
                <a:tc>
                  <a:txBody>
                    <a:bodyPr/>
                    <a:lstStyle/>
                    <a:p>
                      <a:r>
                        <a:rPr lang="en-GB" b="1" dirty="0">
                          <a:solidFill>
                            <a:schemeClr val="bg1"/>
                          </a:solidFill>
                        </a:rPr>
                        <a:t>Field Name</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dirty="0">
                          <a:solidFill>
                            <a:schemeClr val="bg1"/>
                          </a:solidFill>
                        </a:rPr>
                        <a:t>Data Type</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Size/Format</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Description</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Constraints / Default Value</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575513374"/>
                  </a:ext>
                </a:extLst>
              </a:tr>
              <a:tr h="0">
                <a:tc>
                  <a:txBody>
                    <a:bodyPr/>
                    <a:lstStyle/>
                    <a:p>
                      <a:r>
                        <a:rPr lang="en-GB">
                          <a:solidFill>
                            <a:schemeClr val="bg1"/>
                          </a:solidFill>
                        </a:rPr>
                        <a:t>userId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err="1">
                          <a:solidFill>
                            <a:schemeClr val="bg1"/>
                          </a:solidFill>
                        </a:rPr>
                        <a:t>ObjectId</a:t>
                      </a:r>
                      <a:r>
                        <a:rPr lang="en-GB" dirty="0">
                          <a:solidFill>
                            <a:schemeClr val="bg1"/>
                          </a:solidFill>
                        </a:rPr>
                        <a:t>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User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The user who owns the cart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816394051"/>
                  </a:ext>
                </a:extLst>
              </a:tr>
              <a:tr h="0">
                <a:tc>
                  <a:txBody>
                    <a:bodyPr/>
                    <a:lstStyle/>
                    <a:p>
                      <a:r>
                        <a:rPr lang="en-GB">
                          <a:solidFill>
                            <a:schemeClr val="bg1"/>
                          </a:solidFill>
                        </a:rPr>
                        <a:t>productId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ObjectId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Product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The product added to the cart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60380015"/>
                  </a:ext>
                </a:extLst>
              </a:tr>
              <a:tr h="0">
                <a:tc>
                  <a:txBody>
                    <a:bodyPr/>
                    <a:lstStyle/>
                    <a:p>
                      <a:r>
                        <a:rPr lang="en-GB">
                          <a:solidFill>
                            <a:schemeClr val="bg1"/>
                          </a:solidFill>
                        </a:rPr>
                        <a:t>quantity</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Number</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Integer</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Number of units of the product added to the cart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Default: 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59917576"/>
                  </a:ext>
                </a:extLst>
              </a:tr>
              <a:tr h="0">
                <a:tc>
                  <a:txBody>
                    <a:bodyPr/>
                    <a:lstStyle/>
                    <a:p>
                      <a:r>
                        <a:rPr lang="en-GB">
                          <a:solidFill>
                            <a:schemeClr val="bg1"/>
                          </a:solidFill>
                        </a:rPr>
                        <a:t>createdAt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Date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ISO Date format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Timestamp of when the cart entry was created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Default: </a:t>
                      </a:r>
                      <a:r>
                        <a:rPr lang="en-GB" dirty="0" err="1">
                          <a:solidFill>
                            <a:schemeClr val="bg1"/>
                          </a:solidFill>
                        </a:rPr>
                        <a:t>Date.now</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519234118"/>
                  </a:ext>
                </a:extLst>
              </a:tr>
            </a:tbl>
          </a:graphicData>
        </a:graphic>
      </p:graphicFrame>
    </p:spTree>
    <p:extLst>
      <p:ext uri="{BB962C8B-B14F-4D97-AF65-F5344CB8AC3E}">
        <p14:creationId xmlns:p14="http://schemas.microsoft.com/office/powerpoint/2010/main" val="35973481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360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Wish List :</a:t>
            </a:r>
            <a:endParaRPr lang="en-GB" sz="1800" dirty="0">
              <a:solidFill>
                <a:schemeClr val="bg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223850864"/>
              </p:ext>
            </p:extLst>
          </p:nvPr>
        </p:nvGraphicFramePr>
        <p:xfrm>
          <a:off x="311150" y="1397635"/>
          <a:ext cx="8521700" cy="2926080"/>
        </p:xfrm>
        <a:graphic>
          <a:graphicData uri="http://schemas.openxmlformats.org/drawingml/2006/table">
            <a:tbl>
              <a:tblPr/>
              <a:tblGrid>
                <a:gridCol w="1704340">
                  <a:extLst>
                    <a:ext uri="{9D8B030D-6E8A-4147-A177-3AD203B41FA5}">
                      <a16:colId xmlns:a16="http://schemas.microsoft.com/office/drawing/2014/main" val="4095661437"/>
                    </a:ext>
                  </a:extLst>
                </a:gridCol>
                <a:gridCol w="1704340">
                  <a:extLst>
                    <a:ext uri="{9D8B030D-6E8A-4147-A177-3AD203B41FA5}">
                      <a16:colId xmlns:a16="http://schemas.microsoft.com/office/drawing/2014/main" val="237325053"/>
                    </a:ext>
                  </a:extLst>
                </a:gridCol>
                <a:gridCol w="1704340">
                  <a:extLst>
                    <a:ext uri="{9D8B030D-6E8A-4147-A177-3AD203B41FA5}">
                      <a16:colId xmlns:a16="http://schemas.microsoft.com/office/drawing/2014/main" val="2706592465"/>
                    </a:ext>
                  </a:extLst>
                </a:gridCol>
                <a:gridCol w="1704340">
                  <a:extLst>
                    <a:ext uri="{9D8B030D-6E8A-4147-A177-3AD203B41FA5}">
                      <a16:colId xmlns:a16="http://schemas.microsoft.com/office/drawing/2014/main" val="2996431081"/>
                    </a:ext>
                  </a:extLst>
                </a:gridCol>
                <a:gridCol w="1704340">
                  <a:extLst>
                    <a:ext uri="{9D8B030D-6E8A-4147-A177-3AD203B41FA5}">
                      <a16:colId xmlns:a16="http://schemas.microsoft.com/office/drawing/2014/main" val="2400334724"/>
                    </a:ext>
                  </a:extLst>
                </a:gridCol>
              </a:tblGrid>
              <a:tr h="0">
                <a:tc>
                  <a:txBody>
                    <a:bodyPr/>
                    <a:lstStyle/>
                    <a:p>
                      <a:r>
                        <a:rPr lang="en-GB" b="1" dirty="0">
                          <a:solidFill>
                            <a:schemeClr val="bg1"/>
                          </a:solidFill>
                        </a:rPr>
                        <a:t>Field Name</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Data Type</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Size/Format</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Description</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Constraints / Default Value</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04618261"/>
                  </a:ext>
                </a:extLst>
              </a:tr>
              <a:tr h="0">
                <a:tc>
                  <a:txBody>
                    <a:bodyPr/>
                    <a:lstStyle/>
                    <a:p>
                      <a:r>
                        <a:rPr lang="en-GB">
                          <a:solidFill>
                            <a:schemeClr val="bg1"/>
                          </a:solidFill>
                        </a:rPr>
                        <a:t>userId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err="1">
                          <a:solidFill>
                            <a:schemeClr val="bg1"/>
                          </a:solidFill>
                        </a:rPr>
                        <a:t>ObjectId</a:t>
                      </a:r>
                      <a:r>
                        <a:rPr lang="en-GB" dirty="0">
                          <a:solidFill>
                            <a:schemeClr val="bg1"/>
                          </a:solidFill>
                        </a:rPr>
                        <a:t>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User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The user who added the product to the wishlist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890093897"/>
                  </a:ext>
                </a:extLst>
              </a:tr>
              <a:tr h="0">
                <a:tc>
                  <a:txBody>
                    <a:bodyPr/>
                    <a:lstStyle/>
                    <a:p>
                      <a:r>
                        <a:rPr lang="en-GB">
                          <a:solidFill>
                            <a:schemeClr val="bg1"/>
                          </a:solidFill>
                        </a:rPr>
                        <a:t>productId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ObjectId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Product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The product that is saved in the </a:t>
                      </a:r>
                      <a:r>
                        <a:rPr lang="en-GB" dirty="0" err="1">
                          <a:solidFill>
                            <a:schemeClr val="bg1"/>
                          </a:solidFill>
                        </a:rPr>
                        <a:t>wishlist</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95660741"/>
                  </a:ext>
                </a:extLst>
              </a:tr>
              <a:tr h="0">
                <a:tc>
                  <a:txBody>
                    <a:bodyPr/>
                    <a:lstStyle/>
                    <a:p>
                      <a:r>
                        <a:rPr lang="en-GB">
                          <a:solidFill>
                            <a:schemeClr val="bg1"/>
                          </a:solidFill>
                        </a:rPr>
                        <a:t>createdAt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Date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ISO Date format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Timestamp of when the product was added to the </a:t>
                      </a:r>
                      <a:r>
                        <a:rPr lang="en-GB" dirty="0" err="1">
                          <a:solidFill>
                            <a:schemeClr val="bg1"/>
                          </a:solidFill>
                        </a:rPr>
                        <a:t>wishlist</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Default: </a:t>
                      </a:r>
                      <a:r>
                        <a:rPr lang="en-GB" dirty="0" err="1">
                          <a:solidFill>
                            <a:schemeClr val="bg1"/>
                          </a:solidFill>
                        </a:rPr>
                        <a:t>Date.now</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18409101"/>
                  </a:ext>
                </a:extLst>
              </a:tr>
            </a:tbl>
          </a:graphicData>
        </a:graphic>
      </p:graphicFrame>
    </p:spTree>
    <p:extLst>
      <p:ext uri="{BB962C8B-B14F-4D97-AF65-F5344CB8AC3E}">
        <p14:creationId xmlns:p14="http://schemas.microsoft.com/office/powerpoint/2010/main" val="15783172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360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Contact Us :</a:t>
            </a:r>
            <a:endParaRPr lang="en-GB" sz="1800" dirty="0">
              <a:solidFill>
                <a:schemeClr val="bg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305037621"/>
              </p:ext>
            </p:extLst>
          </p:nvPr>
        </p:nvGraphicFramePr>
        <p:xfrm>
          <a:off x="1344706" y="1230392"/>
          <a:ext cx="7584140" cy="3845437"/>
        </p:xfrm>
        <a:graphic>
          <a:graphicData uri="http://schemas.openxmlformats.org/drawingml/2006/table">
            <a:tbl>
              <a:tblPr/>
              <a:tblGrid>
                <a:gridCol w="1516828">
                  <a:extLst>
                    <a:ext uri="{9D8B030D-6E8A-4147-A177-3AD203B41FA5}">
                      <a16:colId xmlns:a16="http://schemas.microsoft.com/office/drawing/2014/main" val="77548848"/>
                    </a:ext>
                  </a:extLst>
                </a:gridCol>
                <a:gridCol w="1516828">
                  <a:extLst>
                    <a:ext uri="{9D8B030D-6E8A-4147-A177-3AD203B41FA5}">
                      <a16:colId xmlns:a16="http://schemas.microsoft.com/office/drawing/2014/main" val="99131803"/>
                    </a:ext>
                  </a:extLst>
                </a:gridCol>
                <a:gridCol w="1516828">
                  <a:extLst>
                    <a:ext uri="{9D8B030D-6E8A-4147-A177-3AD203B41FA5}">
                      <a16:colId xmlns:a16="http://schemas.microsoft.com/office/drawing/2014/main" val="3657252238"/>
                    </a:ext>
                  </a:extLst>
                </a:gridCol>
                <a:gridCol w="1516828">
                  <a:extLst>
                    <a:ext uri="{9D8B030D-6E8A-4147-A177-3AD203B41FA5}">
                      <a16:colId xmlns:a16="http://schemas.microsoft.com/office/drawing/2014/main" val="41719515"/>
                    </a:ext>
                  </a:extLst>
                </a:gridCol>
                <a:gridCol w="1516828">
                  <a:extLst>
                    <a:ext uri="{9D8B030D-6E8A-4147-A177-3AD203B41FA5}">
                      <a16:colId xmlns:a16="http://schemas.microsoft.com/office/drawing/2014/main" val="3385817909"/>
                    </a:ext>
                  </a:extLst>
                </a:gridCol>
              </a:tblGrid>
              <a:tr h="340690">
                <a:tc>
                  <a:txBody>
                    <a:bodyPr/>
                    <a:lstStyle/>
                    <a:p>
                      <a:r>
                        <a:rPr lang="en-GB" sz="900" b="1" dirty="0">
                          <a:solidFill>
                            <a:schemeClr val="bg1"/>
                          </a:solidFill>
                        </a:rPr>
                        <a:t>Field Name</a:t>
                      </a:r>
                      <a:endParaRPr lang="en-GB" sz="900" dirty="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Data Type</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Size / Format</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Description</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Constraints / Default Value</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523284291"/>
                  </a:ext>
                </a:extLst>
              </a:tr>
              <a:tr h="486869">
                <a:tc>
                  <a:txBody>
                    <a:bodyPr/>
                    <a:lstStyle/>
                    <a:p>
                      <a:r>
                        <a:rPr lang="en-GB" sz="900" dirty="0">
                          <a:solidFill>
                            <a:schemeClr val="bg1"/>
                          </a:solidFill>
                        </a:rPr>
                        <a:t>name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Name of the person submitting the contact form</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548620863"/>
                  </a:ext>
                </a:extLst>
              </a:tr>
              <a:tr h="486869">
                <a:tc>
                  <a:txBody>
                    <a:bodyPr/>
                    <a:lstStyle/>
                    <a:p>
                      <a:r>
                        <a:rPr lang="en-GB" sz="900">
                          <a:solidFill>
                            <a:schemeClr val="bg1"/>
                          </a:solidFill>
                        </a:rPr>
                        <a:t>email</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Email format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Email of the person submitting the contact form</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764204005"/>
                  </a:ext>
                </a:extLst>
              </a:tr>
              <a:tr h="340690">
                <a:tc>
                  <a:txBody>
                    <a:bodyPr/>
                    <a:lstStyle/>
                    <a:p>
                      <a:r>
                        <a:rPr lang="en-GB" sz="900">
                          <a:solidFill>
                            <a:schemeClr val="bg1"/>
                          </a:solidFill>
                        </a:rPr>
                        <a:t>phone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Text / Number</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Contact number of the person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2683863"/>
                  </a:ext>
                </a:extLst>
              </a:tr>
              <a:tr h="340690">
                <a:tc>
                  <a:txBody>
                    <a:bodyPr/>
                    <a:lstStyle/>
                    <a:p>
                      <a:r>
                        <a:rPr lang="en-GB" sz="900">
                          <a:solidFill>
                            <a:schemeClr val="bg1"/>
                          </a:solidFill>
                        </a:rPr>
                        <a:t>message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Message submitted by the user</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74397512"/>
                  </a:ext>
                </a:extLst>
              </a:tr>
              <a:tr h="340690">
                <a:tc>
                  <a:txBody>
                    <a:bodyPr/>
                    <a:lstStyle/>
                    <a:p>
                      <a:r>
                        <a:rPr lang="en-GB" sz="900">
                          <a:solidFill>
                            <a:schemeClr val="bg1"/>
                          </a:solidFill>
                        </a:rPr>
                        <a:t>reply</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Reply from admin to the user's message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Default: empty string ('')</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54853760"/>
                  </a:ext>
                </a:extLst>
              </a:tr>
              <a:tr h="340690">
                <a:tc>
                  <a:txBody>
                    <a:bodyPr/>
                    <a:lstStyle/>
                    <a:p>
                      <a:r>
                        <a:rPr lang="en-GB" sz="900">
                          <a:solidFill>
                            <a:schemeClr val="bg1"/>
                          </a:solidFill>
                        </a:rPr>
                        <a:t>createdAt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ISO 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Timestamp when the message was created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Default: Date.now</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220827478"/>
                  </a:ext>
                </a:extLst>
              </a:tr>
              <a:tr h="340690">
                <a:tc>
                  <a:txBody>
                    <a:bodyPr/>
                    <a:lstStyle/>
                    <a:p>
                      <a:r>
                        <a:rPr lang="en-GB" sz="900">
                          <a:solidFill>
                            <a:schemeClr val="bg1"/>
                          </a:solidFill>
                        </a:rPr>
                        <a:t>status</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Status of the message (e.g., New, Replied)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Default: 'New'</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879624308"/>
                  </a:ext>
                </a:extLst>
              </a:tr>
              <a:tr h="340690">
                <a:tc>
                  <a:txBody>
                    <a:bodyPr/>
                    <a:lstStyle/>
                    <a:p>
                      <a:r>
                        <a:rPr lang="en-GB" sz="900">
                          <a:solidFill>
                            <a:schemeClr val="bg1"/>
                          </a:solidFill>
                        </a:rPr>
                        <a:t>seen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Boolean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True/False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Whether the message has been viewed by admin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Default: false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24269420"/>
                  </a:ext>
                </a:extLst>
              </a:tr>
              <a:tr h="486869">
                <a:tc>
                  <a:txBody>
                    <a:bodyPr/>
                    <a:lstStyle/>
                    <a:p>
                      <a:r>
                        <a:rPr lang="en-GB" sz="900">
                          <a:solidFill>
                            <a:schemeClr val="bg1"/>
                          </a:solidFill>
                        </a:rPr>
                        <a:t>seenAt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ISO 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Timestamp when the message was marked as seen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Optional</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916630283"/>
                  </a:ext>
                </a:extLst>
              </a:tr>
            </a:tbl>
          </a:graphicData>
        </a:graphic>
      </p:graphicFrame>
    </p:spTree>
    <p:extLst>
      <p:ext uri="{BB962C8B-B14F-4D97-AF65-F5344CB8AC3E}">
        <p14:creationId xmlns:p14="http://schemas.microsoft.com/office/powerpoint/2010/main" val="1644647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2" name="TextBox 1"/>
          <p:cNvSpPr txBox="1"/>
          <p:nvPr/>
        </p:nvSpPr>
        <p:spPr>
          <a:xfrm>
            <a:off x="1845080" y="973425"/>
            <a:ext cx="1888720" cy="400110"/>
          </a:xfrm>
          <a:prstGeom prst="rect">
            <a:avLst/>
          </a:prstGeom>
          <a:noFill/>
        </p:spPr>
        <p:txBody>
          <a:bodyPr wrap="square" rtlCol="0">
            <a:spAutoFit/>
          </a:bodyPr>
          <a:lstStyle/>
          <a:p>
            <a:r>
              <a:rPr lang="en-GB" sz="2000" dirty="0" smtClean="0">
                <a:solidFill>
                  <a:schemeClr val="bg1"/>
                </a:solidFill>
              </a:rPr>
              <a:t>Login</a:t>
            </a:r>
            <a:r>
              <a:rPr lang="en-GB" sz="1800" dirty="0" smtClean="0">
                <a:solidFill>
                  <a:schemeClr val="bg1"/>
                </a:solidFill>
              </a:rPr>
              <a:t> Page</a:t>
            </a:r>
            <a:endParaRPr lang="en-GB" sz="1800" dirty="0">
              <a:solidFill>
                <a:schemeClr val="bg1"/>
              </a:solidFill>
            </a:endParaRPr>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080" y="1521440"/>
            <a:ext cx="6591300" cy="34772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err="1" smtClean="0">
                <a:solidFill>
                  <a:schemeClr val="bg1"/>
                </a:solidFill>
              </a:rPr>
              <a:t>Registor</a:t>
            </a:r>
            <a:r>
              <a:rPr lang="en-GB" sz="1800" dirty="0" smtClean="0">
                <a:solidFill>
                  <a:schemeClr val="bg1"/>
                </a:solidFill>
              </a:rPr>
              <a:t> Page</a:t>
            </a:r>
            <a:endParaRPr lang="en-GB" sz="18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58" y="1539239"/>
            <a:ext cx="5681742" cy="336804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482502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3350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err="1" smtClean="0">
                <a:solidFill>
                  <a:schemeClr val="bg1"/>
                </a:solidFill>
              </a:rPr>
              <a:t>Dashbord</a:t>
            </a:r>
            <a:endParaRPr lang="en-GB" sz="18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760" y="1516380"/>
            <a:ext cx="6635980" cy="349450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0771765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5" name="TextBox 4"/>
          <p:cNvSpPr txBox="1"/>
          <p:nvPr/>
        </p:nvSpPr>
        <p:spPr>
          <a:xfrm>
            <a:off x="1845080" y="1022018"/>
            <a:ext cx="1888720" cy="400110"/>
          </a:xfrm>
          <a:prstGeom prst="rect">
            <a:avLst/>
          </a:prstGeom>
          <a:noFill/>
        </p:spPr>
        <p:txBody>
          <a:bodyPr wrap="square" rtlCol="0">
            <a:spAutoFit/>
          </a:bodyPr>
          <a:lstStyle/>
          <a:p>
            <a:r>
              <a:rPr lang="en-GB" sz="2000" dirty="0" smtClean="0">
                <a:solidFill>
                  <a:schemeClr val="bg1"/>
                </a:solidFill>
              </a:rPr>
              <a:t>Category Page</a:t>
            </a:r>
            <a:endParaRPr lang="en-GB" sz="1800" dirty="0">
              <a:solidFill>
                <a:schemeClr val="bg1"/>
              </a:solidFill>
            </a:endParaRPr>
          </a:p>
        </p:txBody>
      </p:sp>
      <p:sp>
        <p:nvSpPr>
          <p:cNvPr id="6" name="Oval 5"/>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3100" y="1497971"/>
            <a:ext cx="6568440" cy="355223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6751428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smtClean="0">
                <a:solidFill>
                  <a:schemeClr val="bg1"/>
                </a:solidFill>
              </a:rPr>
              <a:t>Wish List Page</a:t>
            </a:r>
            <a:endParaRPr lang="en-GB" sz="18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080" y="1525994"/>
            <a:ext cx="6758940" cy="355138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349816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smtClean="0">
                <a:solidFill>
                  <a:schemeClr val="bg1"/>
                </a:solidFill>
              </a:rPr>
              <a:t>Cart List Page</a:t>
            </a:r>
            <a:endParaRPr lang="en-GB" sz="1800" dirty="0">
              <a:solidFill>
                <a:schemeClr val="bg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2872" y="1422128"/>
            <a:ext cx="6646768" cy="359459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1046035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3092680" cy="400110"/>
          </a:xfrm>
          <a:prstGeom prst="rect">
            <a:avLst/>
          </a:prstGeom>
          <a:noFill/>
        </p:spPr>
        <p:txBody>
          <a:bodyPr wrap="square" rtlCol="0">
            <a:spAutoFit/>
          </a:bodyPr>
          <a:lstStyle/>
          <a:p>
            <a:r>
              <a:rPr lang="en-GB" sz="2000" dirty="0" smtClean="0">
                <a:solidFill>
                  <a:schemeClr val="bg1"/>
                </a:solidFill>
              </a:rPr>
              <a:t>Check Out Page</a:t>
            </a:r>
            <a:endParaRPr lang="en-GB" sz="1800" dirty="0">
              <a:solidFill>
                <a:schemeClr val="bg1"/>
              </a:solidFill>
            </a:endParaRPr>
          </a:p>
        </p:txBody>
      </p:sp>
      <p:pic>
        <p:nvPicPr>
          <p:cNvPr id="5" name="Picture 4"/>
          <p:cNvPicPr>
            <a:picLocks noChangeAspect="1"/>
          </p:cNvPicPr>
          <p:nvPr/>
        </p:nvPicPr>
        <p:blipFill>
          <a:blip r:embed="rId3"/>
          <a:stretch>
            <a:fillRect/>
          </a:stretch>
        </p:blipFill>
        <p:spPr>
          <a:xfrm>
            <a:off x="1693719" y="1422128"/>
            <a:ext cx="7316569" cy="3633949"/>
          </a:xfrm>
          <a:prstGeom prst="rect">
            <a:avLst/>
          </a:prstGeom>
        </p:spPr>
      </p:pic>
    </p:spTree>
    <p:extLst>
      <p:ext uri="{BB962C8B-B14F-4D97-AF65-F5344CB8AC3E}">
        <p14:creationId xmlns:p14="http://schemas.microsoft.com/office/powerpoint/2010/main" val="31840443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3092680" cy="400110"/>
          </a:xfrm>
          <a:prstGeom prst="rect">
            <a:avLst/>
          </a:prstGeom>
          <a:noFill/>
        </p:spPr>
        <p:txBody>
          <a:bodyPr wrap="square" rtlCol="0">
            <a:spAutoFit/>
          </a:bodyPr>
          <a:lstStyle/>
          <a:p>
            <a:r>
              <a:rPr lang="en-GB" sz="2000" dirty="0" smtClean="0">
                <a:solidFill>
                  <a:schemeClr val="bg1"/>
                </a:solidFill>
              </a:rPr>
              <a:t>Forgot Password</a:t>
            </a:r>
            <a:r>
              <a:rPr lang="en-GB" sz="2000" dirty="0" smtClean="0">
                <a:solidFill>
                  <a:schemeClr val="bg1"/>
                </a:solidFill>
              </a:rPr>
              <a:t> </a:t>
            </a:r>
            <a:r>
              <a:rPr lang="en-GB" sz="2000" dirty="0" smtClean="0">
                <a:solidFill>
                  <a:schemeClr val="bg1"/>
                </a:solidFill>
              </a:rPr>
              <a:t>Page</a:t>
            </a:r>
            <a:endParaRPr lang="en-GB" sz="1800" dirty="0">
              <a:solidFill>
                <a:schemeClr val="bg1"/>
              </a:solidFill>
            </a:endParaRPr>
          </a:p>
        </p:txBody>
      </p:sp>
      <p:pic>
        <p:nvPicPr>
          <p:cNvPr id="6" name="Picture 5"/>
          <p:cNvPicPr>
            <a:picLocks noChangeAspect="1"/>
          </p:cNvPicPr>
          <p:nvPr/>
        </p:nvPicPr>
        <p:blipFill>
          <a:blip r:embed="rId3"/>
          <a:stretch>
            <a:fillRect/>
          </a:stretch>
        </p:blipFill>
        <p:spPr>
          <a:xfrm>
            <a:off x="1845080" y="1658642"/>
            <a:ext cx="6761608" cy="2866061"/>
          </a:xfrm>
          <a:prstGeom prst="rect">
            <a:avLst/>
          </a:prstGeom>
        </p:spPr>
      </p:pic>
    </p:spTree>
    <p:extLst>
      <p:ext uri="{BB962C8B-B14F-4D97-AF65-F5344CB8AC3E}">
        <p14:creationId xmlns:p14="http://schemas.microsoft.com/office/powerpoint/2010/main" val="3176734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3092680" cy="400110"/>
          </a:xfrm>
          <a:prstGeom prst="rect">
            <a:avLst/>
          </a:prstGeom>
          <a:noFill/>
        </p:spPr>
        <p:txBody>
          <a:bodyPr wrap="square" rtlCol="0">
            <a:spAutoFit/>
          </a:bodyPr>
          <a:lstStyle/>
          <a:p>
            <a:r>
              <a:rPr lang="en-GB" sz="2000" dirty="0" smtClean="0">
                <a:solidFill>
                  <a:schemeClr val="bg1"/>
                </a:solidFill>
              </a:rPr>
              <a:t>Mail receive (User)</a:t>
            </a:r>
            <a:endParaRPr lang="en-GB" sz="1800" dirty="0">
              <a:solidFill>
                <a:schemeClr val="bg1"/>
              </a:solidFill>
            </a:endParaRPr>
          </a:p>
        </p:txBody>
      </p:sp>
      <p:pic>
        <p:nvPicPr>
          <p:cNvPr id="2" name="Picture 1"/>
          <p:cNvPicPr>
            <a:picLocks noChangeAspect="1"/>
          </p:cNvPicPr>
          <p:nvPr/>
        </p:nvPicPr>
        <p:blipFill>
          <a:blip r:embed="rId3"/>
          <a:stretch>
            <a:fillRect/>
          </a:stretch>
        </p:blipFill>
        <p:spPr>
          <a:xfrm>
            <a:off x="1693720" y="1525995"/>
            <a:ext cx="7122620" cy="3502767"/>
          </a:xfrm>
          <a:prstGeom prst="rect">
            <a:avLst/>
          </a:prstGeom>
        </p:spPr>
      </p:pic>
    </p:spTree>
    <p:extLst>
      <p:ext uri="{BB962C8B-B14F-4D97-AF65-F5344CB8AC3E}">
        <p14:creationId xmlns:p14="http://schemas.microsoft.com/office/powerpoint/2010/main" val="28476615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3092680" cy="400110"/>
          </a:xfrm>
          <a:prstGeom prst="rect">
            <a:avLst/>
          </a:prstGeom>
          <a:noFill/>
        </p:spPr>
        <p:txBody>
          <a:bodyPr wrap="square" rtlCol="0">
            <a:spAutoFit/>
          </a:bodyPr>
          <a:lstStyle/>
          <a:p>
            <a:r>
              <a:rPr lang="en-GB" sz="2000" dirty="0" smtClean="0">
                <a:solidFill>
                  <a:schemeClr val="bg1"/>
                </a:solidFill>
              </a:rPr>
              <a:t>OTP Verification Page</a:t>
            </a:r>
            <a:endParaRPr lang="en-GB" sz="1800" dirty="0">
              <a:solidFill>
                <a:schemeClr val="bg1"/>
              </a:solidFill>
            </a:endParaRPr>
          </a:p>
        </p:txBody>
      </p:sp>
      <p:pic>
        <p:nvPicPr>
          <p:cNvPr id="6" name="Picture 5"/>
          <p:cNvPicPr>
            <a:picLocks noChangeAspect="1"/>
          </p:cNvPicPr>
          <p:nvPr/>
        </p:nvPicPr>
        <p:blipFill>
          <a:blip r:embed="rId3"/>
          <a:stretch>
            <a:fillRect/>
          </a:stretch>
        </p:blipFill>
        <p:spPr>
          <a:xfrm>
            <a:off x="1845080" y="1746738"/>
            <a:ext cx="6148300" cy="3085748"/>
          </a:xfrm>
          <a:prstGeom prst="rect">
            <a:avLst/>
          </a:prstGeom>
        </p:spPr>
      </p:pic>
    </p:spTree>
    <p:extLst>
      <p:ext uri="{BB962C8B-B14F-4D97-AF65-F5344CB8AC3E}">
        <p14:creationId xmlns:p14="http://schemas.microsoft.com/office/powerpoint/2010/main" val="18217763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3092680" cy="400110"/>
          </a:xfrm>
          <a:prstGeom prst="rect">
            <a:avLst/>
          </a:prstGeom>
          <a:noFill/>
        </p:spPr>
        <p:txBody>
          <a:bodyPr wrap="square" rtlCol="0">
            <a:spAutoFit/>
          </a:bodyPr>
          <a:lstStyle/>
          <a:p>
            <a:r>
              <a:rPr lang="en-GB" sz="2000" dirty="0" smtClean="0">
                <a:solidFill>
                  <a:schemeClr val="bg1"/>
                </a:solidFill>
              </a:rPr>
              <a:t>Reset Password </a:t>
            </a:r>
            <a:r>
              <a:rPr lang="en-GB" sz="2000" dirty="0" smtClean="0">
                <a:solidFill>
                  <a:schemeClr val="bg1"/>
                </a:solidFill>
              </a:rPr>
              <a:t>Page</a:t>
            </a:r>
            <a:endParaRPr lang="en-GB" sz="1800" dirty="0">
              <a:solidFill>
                <a:schemeClr val="bg1"/>
              </a:solidFill>
            </a:endParaRPr>
          </a:p>
        </p:txBody>
      </p:sp>
      <p:pic>
        <p:nvPicPr>
          <p:cNvPr id="5" name="Picture 4"/>
          <p:cNvPicPr>
            <a:picLocks noChangeAspect="1"/>
          </p:cNvPicPr>
          <p:nvPr/>
        </p:nvPicPr>
        <p:blipFill>
          <a:blip r:embed="rId3"/>
          <a:stretch>
            <a:fillRect/>
          </a:stretch>
        </p:blipFill>
        <p:spPr>
          <a:xfrm>
            <a:off x="1838018" y="1762712"/>
            <a:ext cx="6970702" cy="3138349"/>
          </a:xfrm>
          <a:prstGeom prst="rect">
            <a:avLst/>
          </a:prstGeom>
        </p:spPr>
      </p:pic>
    </p:spTree>
    <p:extLst>
      <p:ext uri="{BB962C8B-B14F-4D97-AF65-F5344CB8AC3E}">
        <p14:creationId xmlns:p14="http://schemas.microsoft.com/office/powerpoint/2010/main" val="40785536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txBox="1">
            <a:spLocks noGrp="1"/>
          </p:cNvSpPr>
          <p:nvPr>
            <p:ph type="title"/>
          </p:nvPr>
        </p:nvSpPr>
        <p:spPr>
          <a:xfrm>
            <a:off x="1219050" y="197839"/>
            <a:ext cx="7030500" cy="933591"/>
          </a:xfrm>
          <a:prstGeom prst="rect">
            <a:avLst/>
          </a:prstGeom>
        </p:spPr>
        <p:txBody>
          <a:bodyPr spcFirstLastPara="1" wrap="square" lIns="91425" tIns="91425" rIns="91425" bIns="91425" anchor="ctr" anchorCtr="0">
            <a:normAutofit fontScale="90000"/>
          </a:bodyPr>
          <a:lstStyle/>
          <a:p>
            <a:pPr algn="ctr">
              <a:lnSpc>
                <a:spcPts val="11469"/>
              </a:lnSpc>
            </a:pPr>
            <a:r>
              <a:rPr lang="en-US" dirty="0">
                <a:solidFill>
                  <a:srgbClr val="4A86E8"/>
                </a:solidFill>
                <a:latin typeface="Century Gothic Paneuropean Bold"/>
                <a:ea typeface="Century Gothic Paneuropean Bold"/>
                <a:cs typeface="Century Gothic Paneuropean Bold"/>
                <a:sym typeface="Century Gothic Paneuropean Bold"/>
              </a:rPr>
              <a:t>LIMITATIONS &amp; FUTURE ENHANCEMENTS</a:t>
            </a:r>
          </a:p>
        </p:txBody>
      </p:sp>
      <p:sp>
        <p:nvSpPr>
          <p:cNvPr id="316" name="Google Shape;316;p19"/>
          <p:cNvSpPr txBox="1">
            <a:spLocks noGrp="1"/>
          </p:cNvSpPr>
          <p:nvPr>
            <p:ph type="body" idx="1"/>
          </p:nvPr>
        </p:nvSpPr>
        <p:spPr>
          <a:xfrm>
            <a:off x="1303800" y="1597875"/>
            <a:ext cx="3430500" cy="2933775"/>
          </a:xfrm>
          <a:prstGeom prst="rect">
            <a:avLst/>
          </a:prstGeom>
        </p:spPr>
        <p:txBody>
          <a:bodyPr spcFirstLastPara="1" wrap="square" lIns="91425" tIns="91425" rIns="91425" bIns="91425" anchor="t" anchorCtr="0">
            <a:normAutofit fontScale="77500" lnSpcReduction="20000"/>
          </a:bodyPr>
          <a:lstStyle/>
          <a:p>
            <a:pPr marL="146050" indent="0" algn="just">
              <a:buNone/>
            </a:pPr>
            <a:r>
              <a:rPr lang="en-GB" b="1" dirty="0">
                <a:solidFill>
                  <a:srgbClr val="4A86E8"/>
                </a:solidFill>
              </a:rPr>
              <a:t>Limitations (</a:t>
            </a:r>
            <a:r>
              <a:rPr lang="en-GB" b="1" dirty="0" err="1">
                <a:solidFill>
                  <a:srgbClr val="4A86E8"/>
                </a:solidFill>
              </a:rPr>
              <a:t>GlowCosmetic</a:t>
            </a:r>
            <a:r>
              <a:rPr lang="en-GB" b="1" dirty="0">
                <a:solidFill>
                  <a:srgbClr val="4A86E8"/>
                </a:solidFill>
              </a:rPr>
              <a:t> Website)</a:t>
            </a:r>
          </a:p>
          <a:p>
            <a:pPr algn="just">
              <a:lnSpc>
                <a:spcPct val="170000"/>
              </a:lnSpc>
              <a:buFont typeface="Courier New" panose="02070309020205020404" pitchFamily="49" charset="0"/>
              <a:buChar char="o"/>
            </a:pPr>
            <a:r>
              <a:rPr lang="en-GB" b="1" dirty="0"/>
              <a:t>Limited offline functionality</a:t>
            </a:r>
            <a:r>
              <a:rPr lang="en-GB" dirty="0"/>
              <a:t> – The website requires an internet connection to fetch product data, user info, and process orders.</a:t>
            </a:r>
          </a:p>
          <a:p>
            <a:pPr algn="just">
              <a:buFont typeface="Courier New" panose="02070309020205020404" pitchFamily="49" charset="0"/>
              <a:buChar char="o"/>
            </a:pPr>
            <a:r>
              <a:rPr lang="en-GB" b="1" dirty="0"/>
              <a:t>Single-store focus</a:t>
            </a:r>
            <a:r>
              <a:rPr lang="en-GB" dirty="0"/>
              <a:t> – Currently supports only one store/branch setup; multi-branch management is not available.</a:t>
            </a:r>
          </a:p>
          <a:p>
            <a:pPr algn="just">
              <a:buFont typeface="Courier New" panose="02070309020205020404" pitchFamily="49" charset="0"/>
              <a:buChar char="o"/>
            </a:pPr>
            <a:r>
              <a:rPr lang="en-GB" b="1" dirty="0"/>
              <a:t>Basic analytics</a:t>
            </a:r>
            <a:r>
              <a:rPr lang="en-GB" dirty="0"/>
              <a:t> – Offers only simple sales and user statistics; no advanced reporting or insights.</a:t>
            </a:r>
          </a:p>
          <a:p>
            <a:pPr algn="just">
              <a:buFont typeface="Courier New" panose="02070309020205020404" pitchFamily="49" charset="0"/>
              <a:buChar char="o"/>
            </a:pPr>
            <a:r>
              <a:rPr lang="en-GB" b="1" dirty="0"/>
              <a:t>Limited device integration</a:t>
            </a:r>
            <a:r>
              <a:rPr lang="en-GB" dirty="0"/>
              <a:t> – No integration with billing hardware (like barcode scanners or POS printers).</a:t>
            </a:r>
          </a:p>
          <a:p>
            <a:pPr algn="just">
              <a:buFont typeface="Courier New" panose="02070309020205020404" pitchFamily="49" charset="0"/>
              <a:buChar char="o"/>
            </a:pPr>
            <a:r>
              <a:rPr lang="en-GB" b="1" dirty="0"/>
              <a:t>No dedicated mobile app</a:t>
            </a:r>
            <a:r>
              <a:rPr lang="en-GB" dirty="0"/>
              <a:t> – Users can access the website via mobile browsers, but there is no standalone mobile app.</a:t>
            </a:r>
          </a:p>
        </p:txBody>
      </p:sp>
      <p:sp>
        <p:nvSpPr>
          <p:cNvPr id="2" name="Text Placeholder 1"/>
          <p:cNvSpPr>
            <a:spLocks noGrp="1"/>
          </p:cNvSpPr>
          <p:nvPr>
            <p:ph type="body" idx="2"/>
          </p:nvPr>
        </p:nvSpPr>
        <p:spPr>
          <a:xfrm>
            <a:off x="4903650" y="1287781"/>
            <a:ext cx="3430500" cy="3375660"/>
          </a:xfrm>
        </p:spPr>
        <p:txBody>
          <a:bodyPr>
            <a:normAutofit fontScale="70000" lnSpcReduction="20000"/>
          </a:bodyPr>
          <a:lstStyle/>
          <a:p>
            <a:pPr marL="146050" indent="0">
              <a:lnSpc>
                <a:spcPct val="170000"/>
              </a:lnSpc>
              <a:buNone/>
            </a:pPr>
            <a:r>
              <a:rPr lang="en-GB" sz="1600" b="1" dirty="0">
                <a:solidFill>
                  <a:srgbClr val="4A86E8"/>
                </a:solidFill>
              </a:rPr>
              <a:t>Future Enhancements (</a:t>
            </a:r>
            <a:r>
              <a:rPr lang="en-GB" sz="1600" b="1" dirty="0" err="1">
                <a:solidFill>
                  <a:srgbClr val="4A86E8"/>
                </a:solidFill>
              </a:rPr>
              <a:t>GlowCosmetic</a:t>
            </a:r>
            <a:r>
              <a:rPr lang="en-GB" sz="1600" b="1" dirty="0">
                <a:solidFill>
                  <a:srgbClr val="4A86E8"/>
                </a:solidFill>
              </a:rPr>
              <a:t> Website)</a:t>
            </a:r>
          </a:p>
          <a:p>
            <a:pPr>
              <a:lnSpc>
                <a:spcPct val="170000"/>
              </a:lnSpc>
              <a:buFont typeface="Courier New" panose="02070309020205020404" pitchFamily="49" charset="0"/>
              <a:buChar char="o"/>
            </a:pPr>
            <a:r>
              <a:rPr lang="en-GB" sz="1600" b="1" dirty="0"/>
              <a:t>Offline-first support with auto-sync</a:t>
            </a:r>
            <a:r>
              <a:rPr lang="en-GB" sz="1600" dirty="0"/>
              <a:t> – Allow users to browse products and add to cart even without internet; sync automatically when online.</a:t>
            </a:r>
          </a:p>
          <a:p>
            <a:pPr>
              <a:buFont typeface="Courier New" panose="02070309020205020404" pitchFamily="49" charset="0"/>
              <a:buChar char="o"/>
            </a:pPr>
            <a:r>
              <a:rPr lang="en-GB" sz="1600" b="1" dirty="0"/>
              <a:t>Multi-branch/store management</a:t>
            </a:r>
            <a:r>
              <a:rPr lang="en-GB" sz="1600" dirty="0"/>
              <a:t> – Extend the platform to handle multiple stores, inventory, and sales from different locations.</a:t>
            </a:r>
          </a:p>
          <a:p>
            <a:pPr>
              <a:buFont typeface="Courier New" panose="02070309020205020404" pitchFamily="49" charset="0"/>
              <a:buChar char="o"/>
            </a:pPr>
            <a:r>
              <a:rPr lang="en-GB" sz="1600" b="1" dirty="0"/>
              <a:t>Advanced analytics and reports</a:t>
            </a:r>
            <a:r>
              <a:rPr lang="en-GB" sz="1600" dirty="0"/>
              <a:t> – Introduce dashboards, detailed sales insights, and customer </a:t>
            </a:r>
            <a:r>
              <a:rPr lang="en-GB" sz="1600" dirty="0" err="1"/>
              <a:t>behavior</a:t>
            </a:r>
            <a:r>
              <a:rPr lang="en-GB" sz="1600" dirty="0"/>
              <a:t> analysis.</a:t>
            </a:r>
          </a:p>
          <a:p>
            <a:pPr>
              <a:buFont typeface="Courier New" panose="02070309020205020404" pitchFamily="49" charset="0"/>
              <a:buChar char="o"/>
            </a:pPr>
            <a:r>
              <a:rPr lang="en-GB" sz="1600" b="1" dirty="0"/>
              <a:t>Hardware integration</a:t>
            </a:r>
            <a:r>
              <a:rPr lang="en-GB" sz="1600" dirty="0"/>
              <a:t> – Connect with barcode scanners, receipt printers, and other billing devices for faster checkout.</a:t>
            </a:r>
          </a:p>
          <a:p>
            <a:pPr>
              <a:buFont typeface="Courier New" panose="02070309020205020404" pitchFamily="49" charset="0"/>
              <a:buChar char="o"/>
            </a:pPr>
            <a:r>
              <a:rPr lang="en-GB" sz="1600" b="1" dirty="0"/>
              <a:t>Dedicated mobile app</a:t>
            </a:r>
            <a:r>
              <a:rPr lang="en-GB" sz="1600" dirty="0"/>
              <a:t> – Launch native apps for </a:t>
            </a:r>
            <a:r>
              <a:rPr lang="en-GB" sz="1600" b="1" dirty="0"/>
              <a:t>Android and iOS</a:t>
            </a:r>
            <a:r>
              <a:rPr lang="en-GB" sz="1600" dirty="0"/>
              <a:t> to improve user experience and accessibility.</a:t>
            </a:r>
          </a:p>
          <a:p>
            <a:endParaRPr lang="en-GB" dirty="0"/>
          </a:p>
        </p:txBody>
      </p:sp>
      <p:cxnSp>
        <p:nvCxnSpPr>
          <p:cNvPr id="5" name="Straight Connector 4"/>
          <p:cNvCxnSpPr/>
          <p:nvPr/>
        </p:nvCxnSpPr>
        <p:spPr>
          <a:xfrm>
            <a:off x="4903500" y="1908670"/>
            <a:ext cx="30480" cy="1992770"/>
          </a:xfrm>
          <a:prstGeom prst="line">
            <a:avLst/>
          </a:prstGeom>
          <a:ln>
            <a:solidFill>
              <a:srgbClr val="4A86E8"/>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03800" y="598575"/>
            <a:ext cx="7030500" cy="933045"/>
          </a:xfrm>
        </p:spPr>
        <p:txBody>
          <a:bodyPr/>
          <a:lstStyle/>
          <a:p>
            <a:r>
              <a:rPr lang="en-GB" dirty="0" smtClean="0">
                <a:solidFill>
                  <a:srgbClr val="4A86E8"/>
                </a:solidFill>
              </a:rPr>
              <a:t>Reference</a:t>
            </a:r>
            <a:r>
              <a:rPr lang="en-GB" dirty="0" smtClean="0"/>
              <a:t> </a:t>
            </a:r>
            <a:endParaRPr lang="en-GB" dirty="0"/>
          </a:p>
        </p:txBody>
      </p:sp>
      <p:sp>
        <p:nvSpPr>
          <p:cNvPr id="6" name="Text Placeholder 5"/>
          <p:cNvSpPr>
            <a:spLocks noGrp="1"/>
          </p:cNvSpPr>
          <p:nvPr>
            <p:ph type="body" idx="1"/>
          </p:nvPr>
        </p:nvSpPr>
        <p:spPr>
          <a:xfrm>
            <a:off x="1303800" y="1464270"/>
            <a:ext cx="7030500" cy="2541600"/>
          </a:xfrm>
        </p:spPr>
        <p:txBody>
          <a:bodyPr/>
          <a:lstStyle/>
          <a:p>
            <a:pPr>
              <a:lnSpc>
                <a:spcPct val="200000"/>
              </a:lnSpc>
            </a:pPr>
            <a:r>
              <a:rPr lang="en-GB" dirty="0" smtClean="0"/>
              <a:t>Google </a:t>
            </a:r>
          </a:p>
          <a:p>
            <a:pPr>
              <a:lnSpc>
                <a:spcPct val="200000"/>
              </a:lnSpc>
            </a:pPr>
            <a:r>
              <a:rPr lang="en-GB" dirty="0" err="1" smtClean="0"/>
              <a:t>ChatGPT</a:t>
            </a:r>
            <a:endParaRPr lang="en-GB" dirty="0" smtClean="0"/>
          </a:p>
          <a:p>
            <a:pPr>
              <a:lnSpc>
                <a:spcPct val="200000"/>
              </a:lnSpc>
            </a:pPr>
            <a:r>
              <a:rPr lang="en-GB" dirty="0" err="1" smtClean="0"/>
              <a:t>Myntra</a:t>
            </a:r>
            <a:r>
              <a:rPr lang="en-GB" dirty="0" smtClean="0"/>
              <a:t> </a:t>
            </a:r>
          </a:p>
          <a:p>
            <a:pPr>
              <a:lnSpc>
                <a:spcPct val="200000"/>
              </a:lnSpc>
            </a:pPr>
            <a:r>
              <a:rPr lang="en-GB" dirty="0" smtClean="0"/>
              <a:t>Flipkart</a:t>
            </a:r>
          </a:p>
          <a:p>
            <a:pPr>
              <a:lnSpc>
                <a:spcPct val="200000"/>
              </a:lnSpc>
            </a:pPr>
            <a:endParaRPr lang="en-GB" dirty="0"/>
          </a:p>
        </p:txBody>
      </p:sp>
    </p:spTree>
    <p:extLst>
      <p:ext uri="{BB962C8B-B14F-4D97-AF65-F5344CB8AC3E}">
        <p14:creationId xmlns:p14="http://schemas.microsoft.com/office/powerpoint/2010/main" val="5306299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685805" y="1450905"/>
            <a:ext cx="6366900" cy="1863300"/>
          </a:xfrm>
        </p:spPr>
        <p:txBody>
          <a:bodyPr/>
          <a:lstStyle/>
          <a:p>
            <a:r>
              <a:rPr lang="en-GB" dirty="0" smtClean="0"/>
              <a:t>Thank you</a:t>
            </a:r>
            <a:endParaRPr lang="en-GB" dirty="0"/>
          </a:p>
        </p:txBody>
      </p:sp>
    </p:spTree>
    <p:extLst>
      <p:ext uri="{BB962C8B-B14F-4D97-AF65-F5344CB8AC3E}">
        <p14:creationId xmlns:p14="http://schemas.microsoft.com/office/powerpoint/2010/main" val="2230521072"/>
      </p:ext>
    </p:extLst>
  </p:cSld>
  <p:clrMapOvr>
    <a:masterClrMapping/>
  </p:clrMapOvr>
  <p:timing>
    <p:tnLst>
      <p:par>
        <p:cTn id="1" dur="indefinite" restart="never" nodeType="tmRoot"/>
      </p:par>
    </p:tnLst>
  </p:timing>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1075</Words>
  <Application>Microsoft Office PowerPoint</Application>
  <PresentationFormat>On-screen Show (16:9)</PresentationFormat>
  <Paragraphs>303</Paragraphs>
  <Slides>25</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Nunito</vt:lpstr>
      <vt:lpstr>Courier New</vt:lpstr>
      <vt:lpstr>Maven Pro</vt:lpstr>
      <vt:lpstr>Arial</vt:lpstr>
      <vt:lpstr>Century Gothic Paneuropean Bold</vt:lpstr>
      <vt:lpstr>Momentum</vt:lpstr>
      <vt:lpstr>GlowCosmetic Online Product  </vt:lpstr>
      <vt:lpstr>About Company </vt:lpstr>
      <vt:lpstr>PowerPoint Presentation</vt:lpstr>
      <vt:lpstr>Project Profile </vt:lpstr>
      <vt:lpstr>Use Case Diagram </vt:lpstr>
      <vt:lpstr>System Design </vt:lpstr>
      <vt:lpstr>Data Dictionary</vt:lpstr>
      <vt:lpstr>Data Dictionary</vt:lpstr>
      <vt:lpstr>Data Dictionary</vt:lpstr>
      <vt:lpstr>Data Dictionary</vt:lpstr>
      <vt:lpstr>Data Dictionary</vt:lpstr>
      <vt:lpstr>Screen Shorts</vt:lpstr>
      <vt:lpstr>Screen Shorts</vt:lpstr>
      <vt:lpstr>Screen Shorts</vt:lpstr>
      <vt:lpstr>Screen Shorts</vt:lpstr>
      <vt:lpstr>Screen Shorts</vt:lpstr>
      <vt:lpstr>Screen Shorts</vt:lpstr>
      <vt:lpstr>Screen Shorts</vt:lpstr>
      <vt:lpstr>Screen Shorts</vt:lpstr>
      <vt:lpstr>Screen Shorts</vt:lpstr>
      <vt:lpstr>Screen Shorts</vt:lpstr>
      <vt:lpstr>Screen Shorts</vt:lpstr>
      <vt:lpstr>LIMITATIONS &amp; FUTURE ENHANCEMENTS</vt:lpstr>
      <vt:lpstr>Reference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GlowCosmetic Online Product</dc:title>
  <dc:creator>Admin</dc:creator>
  <cp:lastModifiedBy>Admin</cp:lastModifiedBy>
  <cp:revision>18</cp:revision>
  <dcterms:modified xsi:type="dcterms:W3CDTF">2025-11-07T06:04:22Z</dcterms:modified>
</cp:coreProperties>
</file>